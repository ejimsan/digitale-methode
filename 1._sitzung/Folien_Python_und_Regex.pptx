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4" r:id="rId1"/>
    <p:sldMasterId id="2147483670" r:id="rId2"/>
    <p:sldMasterId id="2147483662" r:id="rId3"/>
    <p:sldMasterId id="2147483665" r:id="rId4"/>
    <p:sldMasterId id="2147483663" r:id="rId5"/>
  </p:sldMasterIdLst>
  <p:notesMasterIdLst>
    <p:notesMasterId r:id="rId27"/>
  </p:notesMasterIdLst>
  <p:sldIdLst>
    <p:sldId id="259" r:id="rId6"/>
    <p:sldId id="400" r:id="rId900"/>
    <p:sldId id="401" r:id="rId901"/>
    <p:sldId id="402" r:id="rId902"/>
    <p:sldId id="403" r:id="rId903"/>
    <p:sldId id="404" r:id="rId904"/>
    <p:sldId id="405" r:id="rId905"/>
    <p:sldId id="406" r:id="rId906"/>
    <p:sldId id="407" r:id="rId907"/>
    <p:sldId id="408" r:id="rId908"/>
    <p:sldId id="409" r:id="rId909"/>
    <p:sldId id="410" r:id="rId910"/>
    <p:sldId id="411" r:id="rId911"/>
    <p:sldId id="412" r:id="rId912"/>
    <p:sldId id="413" r:id="rId913"/>
    <p:sldId id="414" r:id="rId914"/>
    <p:sldId id="415" r:id="rId915"/>
    <p:sldId id="416" r:id="rId916"/>
    <p:sldId id="417" r:id="rId917"/>
    <p:sldId id="418" r:id="rId918"/>
    <p:sldId id="419" r:id="rId919"/>
    <p:sldId id="420" r:id="rId920"/>
    <p:sldId id="421" r:id="rId921"/>
    <p:sldId id="422" r:id="rId922"/>
    <p:sldId id="423" r:id="rId923"/>
    <p:sldId id="424" r:id="rId924"/>
    <p:sldId id="425" r:id="rId925"/>
    <p:sldId id="426" r:id="rId926"/>
    <p:sldId id="427" r:id="rId927"/>
    <p:sldId id="428" r:id="rId928"/>
    <p:sldId id="429" r:id="rId929"/>
    <p:sldId id="430" r:id="rId930"/>
    <p:sldId id="431" r:id="rId9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0D15"/>
    <a:srgbClr val="000000"/>
    <a:srgbClr val="202321"/>
    <a:srgbClr val="616468"/>
    <a:srgbClr val="F18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672" autoAdjust="0"/>
    <p:restoredTop sz="95268" autoAdjust="0"/>
  </p:normalViewPr>
  <p:slideViewPr>
    <p:cSldViewPr snapToGrid="0" snapToObjects="1" showGuides="1">
      <p:cViewPr varScale="1">
        <p:scale>
          <a:sx n="100" d="100"/>
          <a:sy n="100" d="100"/>
        </p:scale>
        <p:origin x="114" y="1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slideMaster" Target="slideMasters/slideMaster3.xml"/><Relationship Id="rId2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5.xml"/><Relationship Id="rId28" Type="http://schemas.openxmlformats.org/officeDocument/2006/relationships/presProps" Target="presProps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900" Type="http://schemas.openxmlformats.org/officeDocument/2006/relationships/slide" Target="slides/slide100.xml"/><Relationship Id="rId901" Type="http://schemas.openxmlformats.org/officeDocument/2006/relationships/slide" Target="slides/slide101.xml"/><Relationship Id="rId902" Type="http://schemas.openxmlformats.org/officeDocument/2006/relationships/slide" Target="slides/slide102.xml"/><Relationship Id="rId903" Type="http://schemas.openxmlformats.org/officeDocument/2006/relationships/slide" Target="slides/slide103.xml"/><Relationship Id="rId904" Type="http://schemas.openxmlformats.org/officeDocument/2006/relationships/slide" Target="slides/slide104.xml"/><Relationship Id="rId905" Type="http://schemas.openxmlformats.org/officeDocument/2006/relationships/slide" Target="slides/slide105.xml"/><Relationship Id="rId906" Type="http://schemas.openxmlformats.org/officeDocument/2006/relationships/slide" Target="slides/slide106.xml"/><Relationship Id="rId907" Type="http://schemas.openxmlformats.org/officeDocument/2006/relationships/slide" Target="slides/slide107.xml"/><Relationship Id="rId908" Type="http://schemas.openxmlformats.org/officeDocument/2006/relationships/slide" Target="slides/slide108.xml"/><Relationship Id="rId909" Type="http://schemas.openxmlformats.org/officeDocument/2006/relationships/slide" Target="slides/slide109.xml"/><Relationship Id="rId910" Type="http://schemas.openxmlformats.org/officeDocument/2006/relationships/slide" Target="slides/slide110.xml"/><Relationship Id="rId911" Type="http://schemas.openxmlformats.org/officeDocument/2006/relationships/slide" Target="slides/slide111.xml"/><Relationship Id="rId912" Type="http://schemas.openxmlformats.org/officeDocument/2006/relationships/slide" Target="slides/slide112.xml"/><Relationship Id="rId913" Type="http://schemas.openxmlformats.org/officeDocument/2006/relationships/slide" Target="slides/slide113.xml"/><Relationship Id="rId914" Type="http://schemas.openxmlformats.org/officeDocument/2006/relationships/slide" Target="slides/slide114.xml"/><Relationship Id="rId915" Type="http://schemas.openxmlformats.org/officeDocument/2006/relationships/slide" Target="slides/slide115.xml"/><Relationship Id="rId916" Type="http://schemas.openxmlformats.org/officeDocument/2006/relationships/slide" Target="slides/slide116.xml"/><Relationship Id="rId917" Type="http://schemas.openxmlformats.org/officeDocument/2006/relationships/slide" Target="slides/slide117.xml"/><Relationship Id="rId918" Type="http://schemas.openxmlformats.org/officeDocument/2006/relationships/slide" Target="slides/slide118.xml"/><Relationship Id="rId919" Type="http://schemas.openxmlformats.org/officeDocument/2006/relationships/slide" Target="slides/slide119.xml"/><Relationship Id="rId920" Type="http://schemas.openxmlformats.org/officeDocument/2006/relationships/slide" Target="slides/slide120.xml"/><Relationship Id="rId921" Type="http://schemas.openxmlformats.org/officeDocument/2006/relationships/slide" Target="slides/slide121.xml"/><Relationship Id="rId922" Type="http://schemas.openxmlformats.org/officeDocument/2006/relationships/slide" Target="slides/slide122.xml"/><Relationship Id="rId923" Type="http://schemas.openxmlformats.org/officeDocument/2006/relationships/slide" Target="slides/slide123.xml"/><Relationship Id="rId924" Type="http://schemas.openxmlformats.org/officeDocument/2006/relationships/slide" Target="slides/slide124.xml"/><Relationship Id="rId925" Type="http://schemas.openxmlformats.org/officeDocument/2006/relationships/slide" Target="slides/slide125.xml"/><Relationship Id="rId926" Type="http://schemas.openxmlformats.org/officeDocument/2006/relationships/slide" Target="slides/slide126.xml"/><Relationship Id="rId927" Type="http://schemas.openxmlformats.org/officeDocument/2006/relationships/slide" Target="slides/slide127.xml"/><Relationship Id="rId928" Type="http://schemas.openxmlformats.org/officeDocument/2006/relationships/slide" Target="slides/slide128.xml"/><Relationship Id="rId929" Type="http://schemas.openxmlformats.org/officeDocument/2006/relationships/slide" Target="slides/slide129.xml"/><Relationship Id="rId930" Type="http://schemas.openxmlformats.org/officeDocument/2006/relationships/slide" Target="slides/slide130.xml"/><Relationship Id="rId931" Type="http://schemas.openxmlformats.org/officeDocument/2006/relationships/slide" Target="slides/slide13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C3ABC7-27AC-6D40-86E4-0C355E54A764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1CAD0D-262D-F145-A422-6EFA995C35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8633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Nach der Vorstellungsrunde. Programmiererfahrung abfragen (0 nie, 1 Tutorial, 2 kleine Skripte, 3 regelmäßig); Windows oder Mac.</a:t>
            </a:r>
          </a:p>
          <a:p>
            <a:r>
              <a:rPr lang="de-DE" dirty="0"/>
              <a:t>Am Ende der Sitzung die Module verteilen; die ersten zwei werden schon am 30.10. vorgestellt.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Heute ohne KI-Assistenten; GitHub Copilot ab der zweiten Sitzung.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Die Wendung ist in den Wörterbüchern nur an diesen beiden Stellen belegt. Gefunden hat sie, wer beide Texte kannte.</a:t>
            </a:r>
          </a:p>
          <a:p>
            <a:r>
              <a:rPr lang="de-DE" dirty="0"/>
              <a:t>Frage des Kurses: Kann ein Programm solche Fälle in allen Zeilen von eBL und Oracc finden? Ob es ein Zitat ist, entscheiden wir.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Diese vier Zeilen sind das Beispiel für alle folgenden Folien. Halbe Klammern werden in eBL-ATF zu # nach dem Zeichen.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ca. 25 Minuten. Windows: py --version statt python --version, falls PATH fehlt. Mac: python3; die Entwicklerwerkzeuge installieren lassen.</a:t>
            </a:r>
          </a:p>
          <a:p>
            <a:r>
              <a:rPr lang="de-DE" dirty="0"/>
              <a:t>Wer fertig ist, hilft dem Nachbarn.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Die Maschine tut, was dasteht, nicht, was gemeint war. # leitet einen Kommentar ein, den Python übergeht.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Häufiger Fehler: zeilen-nummer als Name; der Bindestrich wird als Minus gelesen.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Der Typ bestimmt, was man mit einem Wert tun kann. "4" in Anführungszeichen ist Text, keine Zahl. type("e-nu-ma") ergibt &lt;class 'str'&gt;.</a:t>
            </a:r>
          </a:p>
          <a:p>
            <a:r>
              <a:rPr lang="de-DE" dirty="0"/>
              <a:t>Für das Projekt wichtig: dict zum Zählen (Lemma → Häufigkeit), set für gemeinsame Lemmata (Schnittmenge &amp;).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zeile ist Enūma eliš I 1. split() ohne Argument trennt an Leerzeichen.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Zweidimensional: erster Index die Zeile, zweiter das Wort. Achtung: split() trennt am Leerzeichen auch mitten in einer Ergänzung: am#-ma#-[tu₄ | š]u-ma.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len zählt Zeichen der Zeichenkette (auch die Bindestriche), anzahl_zeichen zählt Keilschriftzeichen.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Ausgabe: nur am#-ma#-[tu₄ ist „beschädigt“. [ša]p-liš ist ergänzt, enthält aber kein #: Frage an die Gruppe, wie man auch Ergänzungen erfasst.</a:t>
            </a:r>
          </a:p>
          <a:p>
            <a:r>
              <a:rPr lang="de-DE" dirty="0"/>
              <a:t>Häufigster Anfängerfehler: IndentationError.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Ein Modul ist eine Datei mit fertigen Funktionen anderer. Wir brauchen fast nur re, collections und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Hier ist wort zu wrot vertippt. SyntaxError: Klammer, Doppelpunkt oder Anführungszeichen fehlt. TypeError: z. B. "3" + 4.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Lesen des Musters: [^…] ein Zeichen, das kein Leerzeichen, Punkt, Bindestrich oder Klammer ist; + eins oder mehrere; # gefolgt von einem Doppelkreuz.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Dieselbe Tabelle steht im Handout, Abschnitt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Mit einer Gruppe ( ) gibt findall nur den Inhalt der Gruppe zurück. sub entfernt hier alle Schadensmarken.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Alle drei Fallen kommen auf dem Übungsblatt vor.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Weitere Aufgaben: Übungsblatt, Teil A (BM.35407).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Vergleich: Bestellzettel am Bibliotheksschalter. Die API-Adresse kann man auch im Browser öffnen und sieht dann die rohe Antwort.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Das Feld oraccWords ordnet dem eBL-Lemma die Oracc-Lemmata mit guide word zu (Paket 2). Vorher im Browser die echte Antwort öffnen und zeigen.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%20 steht für das Leerzeichen. requests vorher installieren, wenn live vorgeführt wird.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Vergleich: wie Fassungen eines Manuskripts, nur dass jede Fassung mit Datum und Beschreibung gespeichert wird und man zu jeder zurückkehren kann.</a:t>
            </a:r>
          </a:p>
          <a:p>
            <a:r>
              <a:rPr lang="de-DE" dirty="0"/>
              <a:t>Die Befehle muss niemand auswendig lernen; VS Code bietet dieselben Schritte in der Seitenleiste „Quellcodeverwaltung“.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Heute nur Konto und Antrag bei GitHub Education. Das Repositorium ist zu Beginn leer; jedes Modul wird nach der Sitzung, in der es besprochen wurde, mit den Rückmeldungen eingestellt.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ca. 10 Minuten. Der Antrag bei GitHub Education braucht einige Tage; deshalb heute stellen.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Die Literatur zu den Modulen liegt zum großen Teil außerhalb der Altorientalistik: Computerlinguistik, Statistik, digitale Klassische Philologie, Bibelwissenschaft. Fast alles auf Englisch.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Ausgangspunkte für alle: Leonard 2008 (Kriterien der Philologie) und Coffee et al. 2013 (Tesserae). Von dort rückwärts und vorwärts.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Rest der Sitzung. Kontrolle: i 23′ hat neun Wörter; zwölf verschiedene Logogramme. Am Ende ein Programm am Beamer zeigen.</a:t>
            </a:r>
          </a:p>
          <a:p>
            <a:r>
              <a:rPr lang="de-DE" dirty="0"/>
              <a:t>Vor Schluss: Module verteilen (die ersten zwei am 30.10.).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titel,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8F51A07C-FE1A-F540-8B1D-0E34068DA5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63933" y="449575"/>
            <a:ext cx="776688" cy="806400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7533C79E-54DD-6F46-82D1-830E85DABCAD}"/>
              </a:ext>
            </a:extLst>
          </p:cNvPr>
          <p:cNvSpPr txBox="1"/>
          <p:nvPr userDrawn="1"/>
        </p:nvSpPr>
        <p:spPr>
          <a:xfrm>
            <a:off x="4006545" y="431809"/>
            <a:ext cx="184731" cy="409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2060" dirty="0"/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32C0B7F7-E1DB-3246-A459-8E85B8A521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400" y="5184000"/>
            <a:ext cx="4509913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ts val="1800"/>
              </a:lnSpc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 dirty="0">
                <a:effectLst/>
                <a:latin typeface="Arial" panose="020B0604020202020204" pitchFamily="34" charset="0"/>
              </a:rPr>
              <a:t>Untertitel</a:t>
            </a:r>
          </a:p>
          <a:p>
            <a:r>
              <a:rPr lang="de-DE" b="1" dirty="0">
                <a:effectLst/>
                <a:latin typeface="Arial" panose="020B0604020202020204" pitchFamily="34" charset="0"/>
              </a:rPr>
              <a:t>Dr. Max Maria Mustermann </a:t>
            </a:r>
            <a:br>
              <a:rPr lang="de-DE" b="1" dirty="0">
                <a:effectLst/>
                <a:latin typeface="Arial" panose="020B0604020202020204" pitchFamily="34" charset="0"/>
              </a:rPr>
            </a:br>
            <a:r>
              <a:rPr lang="de-DE" b="1" dirty="0">
                <a:effectLst/>
                <a:latin typeface="Arial" panose="020B0604020202020204" pitchFamily="34" charset="0"/>
              </a:rPr>
              <a:t>00.00.2020</a:t>
            </a:r>
            <a:endParaRPr lang="de-DE" dirty="0">
              <a:effectLst/>
              <a:latin typeface="Arial" panose="020B0604020202020204" pitchFamily="34" charset="0"/>
            </a:endParaRP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82BFC629-71E6-471E-8487-188A0F977C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2189713"/>
            <a:ext cx="4513400" cy="146304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Präsentationstitel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84D7C6A-4C73-4663-8682-62AF58C8B94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72100" y="1484313"/>
            <a:ext cx="6819900" cy="5373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98013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titel, Bild, LogoTeileinh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feld 13">
            <a:extLst>
              <a:ext uri="{FF2B5EF4-FFF2-40B4-BE49-F238E27FC236}">
                <a16:creationId xmlns:a16="http://schemas.microsoft.com/office/drawing/2014/main" id="{7533C79E-54DD-6F46-82D1-830E85DABCAD}"/>
              </a:ext>
            </a:extLst>
          </p:cNvPr>
          <p:cNvSpPr txBox="1"/>
          <p:nvPr userDrawn="1"/>
        </p:nvSpPr>
        <p:spPr>
          <a:xfrm>
            <a:off x="4006545" y="431809"/>
            <a:ext cx="184731" cy="409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2060" dirty="0"/>
          </a:p>
        </p:txBody>
      </p: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9E3EC0D9-ADF9-484A-8AF7-707A2C63BA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69881" y="613578"/>
            <a:ext cx="886967" cy="455148"/>
          </a:xfrm>
          <a:prstGeom prst="rect">
            <a:avLst/>
          </a:prstGeom>
        </p:spPr>
        <p:txBody>
          <a:bodyPr anchor="ctr" anchorCtr="0"/>
          <a:lstStyle>
            <a:lvl1pPr algn="ctr">
              <a:buFontTx/>
              <a:buNone/>
              <a:defRPr sz="800" baseline="0"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7" name="Textplatzhalter 4">
            <a:extLst>
              <a:ext uri="{FF2B5EF4-FFF2-40B4-BE49-F238E27FC236}">
                <a16:creationId xmlns:a16="http://schemas.microsoft.com/office/drawing/2014/main" id="{80A05923-C642-2E4E-840A-327720B765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400" y="5184000"/>
            <a:ext cx="4509913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ts val="1800"/>
              </a:lnSpc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 dirty="0">
                <a:effectLst/>
                <a:latin typeface="Arial" panose="020B0604020202020204" pitchFamily="34" charset="0"/>
              </a:rPr>
              <a:t>Untertitel</a:t>
            </a:r>
          </a:p>
          <a:p>
            <a:r>
              <a:rPr lang="de-DE" b="1" dirty="0">
                <a:effectLst/>
                <a:latin typeface="Arial" panose="020B0604020202020204" pitchFamily="34" charset="0"/>
              </a:rPr>
              <a:t>Dr. Max Maria Mustermann </a:t>
            </a:r>
            <a:br>
              <a:rPr lang="de-DE" b="1" dirty="0">
                <a:effectLst/>
                <a:latin typeface="Arial" panose="020B0604020202020204" pitchFamily="34" charset="0"/>
              </a:rPr>
            </a:br>
            <a:r>
              <a:rPr lang="de-DE" b="1" dirty="0">
                <a:effectLst/>
                <a:latin typeface="Arial" panose="020B0604020202020204" pitchFamily="34" charset="0"/>
              </a:rPr>
              <a:t>00.00.2020</a:t>
            </a:r>
            <a:endParaRPr lang="de-DE" dirty="0">
              <a:effectLst/>
              <a:latin typeface="Arial" panose="020B0604020202020204" pitchFamily="34" charset="0"/>
            </a:endParaRP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454D6F9D-B6EB-4F72-A2AF-B87B1D3A9A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2189713"/>
            <a:ext cx="4513400" cy="146304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Präsentationstitel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8D60EF3-4399-487D-BFA4-B4727760F97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62575" y="1484313"/>
            <a:ext cx="6829425" cy="5373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8159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A01B540-1535-644B-B828-DE3173BE5EAF}"/>
              </a:ext>
            </a:extLst>
          </p:cNvPr>
          <p:cNvSpPr/>
          <p:nvPr userDrawn="1"/>
        </p:nvSpPr>
        <p:spPr>
          <a:xfrm>
            <a:off x="5376454" y="1484313"/>
            <a:ext cx="6815545" cy="5373687"/>
          </a:xfrm>
          <a:prstGeom prst="rect">
            <a:avLst/>
          </a:prstGeom>
          <a:solidFill>
            <a:srgbClr val="6164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533C79E-54DD-6F46-82D1-830E85DABCAD}"/>
              </a:ext>
            </a:extLst>
          </p:cNvPr>
          <p:cNvSpPr txBox="1"/>
          <p:nvPr userDrawn="1"/>
        </p:nvSpPr>
        <p:spPr>
          <a:xfrm>
            <a:off x="4006545" y="431809"/>
            <a:ext cx="184731" cy="409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206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6968607-CF30-B14E-8DDB-DAB295493C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48700" y="2743200"/>
            <a:ext cx="3543300" cy="4114800"/>
          </a:xfrm>
          <a:prstGeom prst="rect">
            <a:avLst/>
          </a:prstGeom>
        </p:spPr>
      </p:pic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9AD86DE8-5751-A440-B2C4-58BF4A19C0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400" y="5184000"/>
            <a:ext cx="4509913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ts val="1800"/>
              </a:lnSpc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 dirty="0">
                <a:effectLst/>
                <a:latin typeface="Arial" panose="020B0604020202020204" pitchFamily="34" charset="0"/>
              </a:rPr>
              <a:t>Untertitel</a:t>
            </a:r>
          </a:p>
          <a:p>
            <a:r>
              <a:rPr lang="de-DE" b="1" dirty="0">
                <a:effectLst/>
                <a:latin typeface="Arial" panose="020B0604020202020204" pitchFamily="34" charset="0"/>
              </a:rPr>
              <a:t>Dr. Max Maria Mustermann </a:t>
            </a:r>
            <a:br>
              <a:rPr lang="de-DE" b="1" dirty="0">
                <a:effectLst/>
                <a:latin typeface="Arial" panose="020B0604020202020204" pitchFamily="34" charset="0"/>
              </a:rPr>
            </a:br>
            <a:r>
              <a:rPr lang="de-DE" b="1" dirty="0">
                <a:effectLst/>
                <a:latin typeface="Arial" panose="020B0604020202020204" pitchFamily="34" charset="0"/>
              </a:rPr>
              <a:t>00.00.2020</a:t>
            </a:r>
            <a:endParaRPr lang="de-DE" dirty="0">
              <a:effectLst/>
              <a:latin typeface="Arial" panose="020B0604020202020204" pitchFamily="34" charset="0"/>
            </a:endParaRP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A0925BAD-1A03-46E3-83C6-927F3F2322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2189713"/>
            <a:ext cx="4513400" cy="146304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Präsentationstitel</a:t>
            </a:r>
          </a:p>
        </p:txBody>
      </p:sp>
    </p:spTree>
    <p:extLst>
      <p:ext uri="{BB962C8B-B14F-4D97-AF65-F5344CB8AC3E}">
        <p14:creationId xmlns:p14="http://schemas.microsoft.com/office/powerpoint/2010/main" val="387477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titel, LogoTeileinh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A01B540-1535-644B-B828-DE3173BE5EAF}"/>
              </a:ext>
            </a:extLst>
          </p:cNvPr>
          <p:cNvSpPr/>
          <p:nvPr userDrawn="1"/>
        </p:nvSpPr>
        <p:spPr>
          <a:xfrm>
            <a:off x="5376454" y="1484313"/>
            <a:ext cx="6815545" cy="537368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533C79E-54DD-6F46-82D1-830E85DABCAD}"/>
              </a:ext>
            </a:extLst>
          </p:cNvPr>
          <p:cNvSpPr txBox="1"/>
          <p:nvPr userDrawn="1"/>
        </p:nvSpPr>
        <p:spPr>
          <a:xfrm>
            <a:off x="4006545" y="431809"/>
            <a:ext cx="184731" cy="409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206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6968607-CF30-B14E-8DDB-DAB295493C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48700" y="2743200"/>
            <a:ext cx="3543300" cy="4114800"/>
          </a:xfrm>
          <a:prstGeom prst="rect">
            <a:avLst/>
          </a:prstGeom>
        </p:spPr>
      </p:pic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9AD86DE8-5751-A440-B2C4-58BF4A19C0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400" y="5184000"/>
            <a:ext cx="4509913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ts val="1800"/>
              </a:lnSpc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 dirty="0">
                <a:effectLst/>
                <a:latin typeface="Arial" panose="020B0604020202020204" pitchFamily="34" charset="0"/>
              </a:rPr>
              <a:t>Untertitel</a:t>
            </a:r>
          </a:p>
          <a:p>
            <a:r>
              <a:rPr lang="de-DE" b="1" dirty="0">
                <a:effectLst/>
                <a:latin typeface="Arial" panose="020B0604020202020204" pitchFamily="34" charset="0"/>
              </a:rPr>
              <a:t>Dr. Max Maria Mustermann </a:t>
            </a:r>
            <a:br>
              <a:rPr lang="de-DE" b="1" dirty="0">
                <a:effectLst/>
                <a:latin typeface="Arial" panose="020B0604020202020204" pitchFamily="34" charset="0"/>
              </a:rPr>
            </a:br>
            <a:r>
              <a:rPr lang="de-DE" b="1" dirty="0">
                <a:effectLst/>
                <a:latin typeface="Arial" panose="020B0604020202020204" pitchFamily="34" charset="0"/>
              </a:rPr>
              <a:t>00.00.2020</a:t>
            </a:r>
            <a:endParaRPr lang="de-DE" dirty="0">
              <a:effectLst/>
              <a:latin typeface="Arial" panose="020B0604020202020204" pitchFamily="34" charset="0"/>
            </a:endParaRPr>
          </a:p>
        </p:txBody>
      </p:sp>
      <p:sp>
        <p:nvSpPr>
          <p:cNvPr id="17" name="Bildplatzhalter 6">
            <a:extLst>
              <a:ext uri="{FF2B5EF4-FFF2-40B4-BE49-F238E27FC236}">
                <a16:creationId xmlns:a16="http://schemas.microsoft.com/office/drawing/2014/main" id="{CB3A64BB-66BD-574D-8D10-B6B91D0A2D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69881" y="613578"/>
            <a:ext cx="886967" cy="455148"/>
          </a:xfrm>
          <a:prstGeom prst="rect">
            <a:avLst/>
          </a:prstGeom>
        </p:spPr>
        <p:txBody>
          <a:bodyPr anchor="ctr" anchorCtr="0"/>
          <a:lstStyle>
            <a:lvl1pPr algn="ctr">
              <a:buFontTx/>
              <a:buNone/>
              <a:defRPr sz="800" baseline="0"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9FD34168-7A63-4BE9-B1FA-940397BC8D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2189713"/>
            <a:ext cx="4513400" cy="146304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Präsentationstitel</a:t>
            </a:r>
          </a:p>
        </p:txBody>
      </p:sp>
    </p:spTree>
    <p:extLst>
      <p:ext uri="{BB962C8B-B14F-4D97-AF65-F5344CB8AC3E}">
        <p14:creationId xmlns:p14="http://schemas.microsoft.com/office/powerpoint/2010/main" val="2086145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A01B540-1535-644B-B828-DE3173BE5EAF}"/>
              </a:ext>
            </a:extLst>
          </p:cNvPr>
          <p:cNvSpPr/>
          <p:nvPr userDrawn="1"/>
        </p:nvSpPr>
        <p:spPr>
          <a:xfrm>
            <a:off x="5376454" y="1484313"/>
            <a:ext cx="6815545" cy="5373687"/>
          </a:xfrm>
          <a:prstGeom prst="rect">
            <a:avLst/>
          </a:prstGeom>
          <a:solidFill>
            <a:srgbClr val="6164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533C79E-54DD-6F46-82D1-830E85DABCAD}"/>
              </a:ext>
            </a:extLst>
          </p:cNvPr>
          <p:cNvSpPr txBox="1"/>
          <p:nvPr userDrawn="1"/>
        </p:nvSpPr>
        <p:spPr>
          <a:xfrm>
            <a:off x="4006545" y="431809"/>
            <a:ext cx="184731" cy="409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206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6968607-CF30-B14E-8DDB-DAB295493C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48700" y="2743200"/>
            <a:ext cx="3543300" cy="4114800"/>
          </a:xfrm>
          <a:prstGeom prst="rect">
            <a:avLst/>
          </a:prstGeom>
        </p:spPr>
      </p:pic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9AD86DE8-5751-A440-B2C4-58BF4A19C0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400" y="5184000"/>
            <a:ext cx="4509913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ts val="1800"/>
              </a:lnSpc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 dirty="0">
                <a:effectLst/>
                <a:latin typeface="Arial" panose="020B0604020202020204" pitchFamily="34" charset="0"/>
              </a:rPr>
              <a:t>Untertitel</a:t>
            </a:r>
          </a:p>
          <a:p>
            <a:r>
              <a:rPr lang="de-DE" b="1" dirty="0">
                <a:effectLst/>
                <a:latin typeface="Arial" panose="020B0604020202020204" pitchFamily="34" charset="0"/>
              </a:rPr>
              <a:t>Dr. Max Maria Mustermann </a:t>
            </a:r>
            <a:br>
              <a:rPr lang="de-DE" b="1" dirty="0">
                <a:effectLst/>
                <a:latin typeface="Arial" panose="020B0604020202020204" pitchFamily="34" charset="0"/>
              </a:rPr>
            </a:br>
            <a:r>
              <a:rPr lang="de-DE" b="1" dirty="0">
                <a:effectLst/>
                <a:latin typeface="Arial" panose="020B0604020202020204" pitchFamily="34" charset="0"/>
              </a:rPr>
              <a:t>00.00.2020</a:t>
            </a:r>
            <a:endParaRPr lang="de-DE" dirty="0">
              <a:effectLst/>
              <a:latin typeface="Arial" panose="020B0604020202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A54FBD0-4BBB-413C-96F0-376E5E59CA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2189713"/>
            <a:ext cx="4513400" cy="146304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Präsentationstitel</a:t>
            </a:r>
          </a:p>
        </p:txBody>
      </p:sp>
    </p:spTree>
    <p:extLst>
      <p:ext uri="{BB962C8B-B14F-4D97-AF65-F5344CB8AC3E}">
        <p14:creationId xmlns:p14="http://schemas.microsoft.com/office/powerpoint/2010/main" val="3023470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äsentationstitel,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8F51A07C-FE1A-F540-8B1D-0E34068DA5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63933" y="449575"/>
            <a:ext cx="776688" cy="806400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7533C79E-54DD-6F46-82D1-830E85DABCAD}"/>
              </a:ext>
            </a:extLst>
          </p:cNvPr>
          <p:cNvSpPr txBox="1"/>
          <p:nvPr userDrawn="1"/>
        </p:nvSpPr>
        <p:spPr>
          <a:xfrm>
            <a:off x="4006545" y="431809"/>
            <a:ext cx="184731" cy="409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2060" dirty="0"/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32C0B7F7-E1DB-3246-A459-8E85B8A521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400" y="5184000"/>
            <a:ext cx="4509913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ts val="1800"/>
              </a:lnSpc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 dirty="0">
                <a:effectLst/>
                <a:latin typeface="Arial" panose="020B0604020202020204" pitchFamily="34" charset="0"/>
              </a:rPr>
              <a:t>Untertitel</a:t>
            </a:r>
          </a:p>
          <a:p>
            <a:r>
              <a:rPr lang="de-DE" b="1" dirty="0">
                <a:effectLst/>
                <a:latin typeface="Arial" panose="020B0604020202020204" pitchFamily="34" charset="0"/>
              </a:rPr>
              <a:t>Dr. Max Maria Mustermann </a:t>
            </a:r>
            <a:br>
              <a:rPr lang="de-DE" b="1" dirty="0">
                <a:effectLst/>
                <a:latin typeface="Arial" panose="020B0604020202020204" pitchFamily="34" charset="0"/>
              </a:rPr>
            </a:br>
            <a:r>
              <a:rPr lang="de-DE" b="1" dirty="0">
                <a:effectLst/>
                <a:latin typeface="Arial" panose="020B0604020202020204" pitchFamily="34" charset="0"/>
              </a:rPr>
              <a:t>00.00.2020</a:t>
            </a:r>
            <a:endParaRPr lang="de-DE" dirty="0">
              <a:effectLst/>
              <a:latin typeface="Arial" panose="020B0604020202020204" pitchFamily="34" charset="0"/>
            </a:endParaRP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82BFC629-71E6-471E-8487-188A0F977C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2189713"/>
            <a:ext cx="4513400" cy="146304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Präsentationstitel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84D7C6A-4C73-4663-8682-62AF58C8B94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72100" y="1484313"/>
            <a:ext cx="6819900" cy="5373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74632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äsentationstitel, Bild, LogoTeileinh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feld 13">
            <a:extLst>
              <a:ext uri="{FF2B5EF4-FFF2-40B4-BE49-F238E27FC236}">
                <a16:creationId xmlns:a16="http://schemas.microsoft.com/office/drawing/2014/main" id="{7533C79E-54DD-6F46-82D1-830E85DABCAD}"/>
              </a:ext>
            </a:extLst>
          </p:cNvPr>
          <p:cNvSpPr txBox="1"/>
          <p:nvPr userDrawn="1"/>
        </p:nvSpPr>
        <p:spPr>
          <a:xfrm>
            <a:off x="4006545" y="431809"/>
            <a:ext cx="184731" cy="409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2060" dirty="0"/>
          </a:p>
        </p:txBody>
      </p: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9E3EC0D9-ADF9-484A-8AF7-707A2C63BA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69881" y="613578"/>
            <a:ext cx="886967" cy="455148"/>
          </a:xfrm>
          <a:prstGeom prst="rect">
            <a:avLst/>
          </a:prstGeom>
        </p:spPr>
        <p:txBody>
          <a:bodyPr anchor="ctr" anchorCtr="0"/>
          <a:lstStyle>
            <a:lvl1pPr algn="ctr">
              <a:buFontTx/>
              <a:buNone/>
              <a:defRPr sz="800" baseline="0"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7" name="Textplatzhalter 4">
            <a:extLst>
              <a:ext uri="{FF2B5EF4-FFF2-40B4-BE49-F238E27FC236}">
                <a16:creationId xmlns:a16="http://schemas.microsoft.com/office/drawing/2014/main" id="{80A05923-C642-2E4E-840A-327720B765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400" y="5184000"/>
            <a:ext cx="4509913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ts val="1800"/>
              </a:lnSpc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 dirty="0">
                <a:effectLst/>
                <a:latin typeface="Arial" panose="020B0604020202020204" pitchFamily="34" charset="0"/>
              </a:rPr>
              <a:t>Untertitel</a:t>
            </a:r>
          </a:p>
          <a:p>
            <a:r>
              <a:rPr lang="de-DE" b="1" dirty="0">
                <a:effectLst/>
                <a:latin typeface="Arial" panose="020B0604020202020204" pitchFamily="34" charset="0"/>
              </a:rPr>
              <a:t>Dr. Max Maria Mustermann </a:t>
            </a:r>
            <a:br>
              <a:rPr lang="de-DE" b="1" dirty="0">
                <a:effectLst/>
                <a:latin typeface="Arial" panose="020B0604020202020204" pitchFamily="34" charset="0"/>
              </a:rPr>
            </a:br>
            <a:r>
              <a:rPr lang="de-DE" b="1" dirty="0">
                <a:effectLst/>
                <a:latin typeface="Arial" panose="020B0604020202020204" pitchFamily="34" charset="0"/>
              </a:rPr>
              <a:t>00.00.2020</a:t>
            </a:r>
            <a:endParaRPr lang="de-DE" dirty="0">
              <a:effectLst/>
              <a:latin typeface="Arial" panose="020B0604020202020204" pitchFamily="34" charset="0"/>
            </a:endParaRP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454D6F9D-B6EB-4F72-A2AF-B87B1D3A9A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2189713"/>
            <a:ext cx="4513400" cy="146304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Präsentationstitel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8D60EF3-4399-487D-BFA4-B4727760F97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62575" y="1484313"/>
            <a:ext cx="6829425" cy="5373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1134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äsentationstitel, LogoTeileinh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A01B540-1535-644B-B828-DE3173BE5EAF}"/>
              </a:ext>
            </a:extLst>
          </p:cNvPr>
          <p:cNvSpPr/>
          <p:nvPr userDrawn="1"/>
        </p:nvSpPr>
        <p:spPr>
          <a:xfrm>
            <a:off x="5376454" y="1484313"/>
            <a:ext cx="6815545" cy="537368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533C79E-54DD-6F46-82D1-830E85DABCAD}"/>
              </a:ext>
            </a:extLst>
          </p:cNvPr>
          <p:cNvSpPr txBox="1"/>
          <p:nvPr userDrawn="1"/>
        </p:nvSpPr>
        <p:spPr>
          <a:xfrm>
            <a:off x="4006545" y="431809"/>
            <a:ext cx="184731" cy="409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206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6968607-CF30-B14E-8DDB-DAB295493C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48700" y="2743200"/>
            <a:ext cx="3543300" cy="4114800"/>
          </a:xfrm>
          <a:prstGeom prst="rect">
            <a:avLst/>
          </a:prstGeom>
        </p:spPr>
      </p:pic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9AD86DE8-5751-A440-B2C4-58BF4A19C0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400" y="5184000"/>
            <a:ext cx="4509913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ts val="1800"/>
              </a:lnSpc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 dirty="0">
                <a:effectLst/>
                <a:latin typeface="Arial" panose="020B0604020202020204" pitchFamily="34" charset="0"/>
              </a:rPr>
              <a:t>Untertitel</a:t>
            </a:r>
          </a:p>
          <a:p>
            <a:r>
              <a:rPr lang="de-DE" b="1" dirty="0">
                <a:effectLst/>
                <a:latin typeface="Arial" panose="020B0604020202020204" pitchFamily="34" charset="0"/>
              </a:rPr>
              <a:t>Dr. Max Maria Mustermann </a:t>
            </a:r>
            <a:br>
              <a:rPr lang="de-DE" b="1" dirty="0">
                <a:effectLst/>
                <a:latin typeface="Arial" panose="020B0604020202020204" pitchFamily="34" charset="0"/>
              </a:rPr>
            </a:br>
            <a:r>
              <a:rPr lang="de-DE" b="1" dirty="0">
                <a:effectLst/>
                <a:latin typeface="Arial" panose="020B0604020202020204" pitchFamily="34" charset="0"/>
              </a:rPr>
              <a:t>00.00.2020</a:t>
            </a:r>
            <a:endParaRPr lang="de-DE" dirty="0">
              <a:effectLst/>
              <a:latin typeface="Arial" panose="020B0604020202020204" pitchFamily="34" charset="0"/>
            </a:endParaRPr>
          </a:p>
        </p:txBody>
      </p:sp>
      <p:sp>
        <p:nvSpPr>
          <p:cNvPr id="17" name="Bildplatzhalter 6">
            <a:extLst>
              <a:ext uri="{FF2B5EF4-FFF2-40B4-BE49-F238E27FC236}">
                <a16:creationId xmlns:a16="http://schemas.microsoft.com/office/drawing/2014/main" id="{CB3A64BB-66BD-574D-8D10-B6B91D0A2D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69881" y="613578"/>
            <a:ext cx="886967" cy="455148"/>
          </a:xfrm>
          <a:prstGeom prst="rect">
            <a:avLst/>
          </a:prstGeom>
        </p:spPr>
        <p:txBody>
          <a:bodyPr anchor="ctr" anchorCtr="0"/>
          <a:lstStyle>
            <a:lvl1pPr algn="ctr">
              <a:buFontTx/>
              <a:buNone/>
              <a:defRPr sz="800" baseline="0"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9FD34168-7A63-4BE9-B1FA-940397BC8D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2189713"/>
            <a:ext cx="4513400" cy="146304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Präsentationstitel</a:t>
            </a:r>
          </a:p>
        </p:txBody>
      </p:sp>
    </p:spTree>
    <p:extLst>
      <p:ext uri="{BB962C8B-B14F-4D97-AF65-F5344CB8AC3E}">
        <p14:creationId xmlns:p14="http://schemas.microsoft.com/office/powerpoint/2010/main" val="2998930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125F89-1710-447C-BA80-DE17C2EF19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400" y="2151208"/>
            <a:ext cx="7200000" cy="141846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r>
              <a:rPr lang="de-DE" dirty="0"/>
              <a:t>1. Erstes Kapitel</a:t>
            </a:r>
          </a:p>
        </p:txBody>
      </p:sp>
    </p:spTree>
    <p:extLst>
      <p:ext uri="{BB962C8B-B14F-4D97-AF65-F5344CB8AC3E}">
        <p14:creationId xmlns:p14="http://schemas.microsoft.com/office/powerpoint/2010/main" val="2178750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‹#›</a:t>
            </a:fld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83A6560-2FDE-481D-9A8E-1866470D9A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80491" y="444249"/>
            <a:ext cx="9577019" cy="1042988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200" b="1"/>
            </a:lvl1pPr>
          </a:lstStyle>
          <a:p>
            <a:r>
              <a:rPr lang="de-DE" dirty="0"/>
              <a:t>Seitentitel mit einer Zeile oder</a:t>
            </a:r>
            <a:br>
              <a:rPr lang="de-DE" dirty="0"/>
            </a:br>
            <a:r>
              <a:rPr lang="de-DE" dirty="0"/>
              <a:t>maximal zwei Zeilen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5E4071A-44EF-49AA-BAC4-8488C57EBC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486" y="1493101"/>
            <a:ext cx="10166228" cy="9382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80"/>
              </a:lnSpc>
              <a:spcBef>
                <a:spcPts val="0"/>
              </a:spcBef>
              <a:buNone/>
              <a:defRPr sz="1900">
                <a:solidFill>
                  <a:srgbClr val="616468"/>
                </a:solidFill>
              </a:defRPr>
            </a:lvl1pPr>
            <a:lvl2pPr marL="407778" indent="0">
              <a:buNone/>
              <a:defRPr sz="1900">
                <a:solidFill>
                  <a:schemeClr val="tx2"/>
                </a:solidFill>
              </a:defRPr>
            </a:lvl2pPr>
            <a:lvl3pPr marL="815557" indent="0">
              <a:buNone/>
              <a:defRPr>
                <a:solidFill>
                  <a:schemeClr val="tx2"/>
                </a:solidFill>
              </a:defRPr>
            </a:lvl3pPr>
            <a:lvl4pPr marL="1223335" indent="0">
              <a:buNone/>
              <a:defRPr>
                <a:solidFill>
                  <a:schemeClr val="tx2"/>
                </a:solidFill>
              </a:defRPr>
            </a:lvl4pPr>
            <a:lvl5pPr marL="1631113" indent="0">
              <a:buNone/>
              <a:defRPr>
                <a:solidFill>
                  <a:schemeClr val="tx2"/>
                </a:solidFill>
              </a:defRPr>
            </a:lvl5pPr>
          </a:lstStyle>
          <a:p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Ne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quatur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? Quam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incipietur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accaepe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lenduciae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Itae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voluptatem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facepelita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dolupta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pore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pos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venti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blanien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tionsec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tempellabor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magnam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soloreria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quevoluptaturi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dolores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earis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dolute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vendae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nobis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ipsam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lab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ium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as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acculliqui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di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tecte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es quam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ressi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ulparis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apeliqui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ipiet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modio</a:t>
            </a:r>
            <a:r>
              <a:rPr lang="de-DE" dirty="0"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. 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CC99ED17-8C0B-4A38-8622-48A70F4A88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6684" y="2635982"/>
            <a:ext cx="10166228" cy="2859210"/>
          </a:xfrm>
          <a:prstGeom prst="rect">
            <a:avLst/>
          </a:prstGeom>
        </p:spPr>
        <p:txBody>
          <a:bodyPr/>
          <a:lstStyle>
            <a:lvl1pPr marL="324000" indent="-324000">
              <a:lnSpc>
                <a:spcPts val="2280"/>
              </a:lnSpc>
              <a:spcBef>
                <a:spcPts val="0"/>
              </a:spcBef>
              <a:spcAft>
                <a:spcPts val="1100"/>
              </a:spcAft>
              <a:buClr>
                <a:schemeClr val="tx1"/>
              </a:buClr>
              <a:buFont typeface="Wingdings" panose="05000000000000000000" pitchFamily="2" charset="2"/>
              <a:buChar char=""/>
              <a:defRPr sz="1900">
                <a:solidFill>
                  <a:srgbClr val="616468"/>
                </a:solidFill>
                <a:latin typeface="+mn-lt"/>
              </a:defRPr>
            </a:lvl1pPr>
          </a:lstStyle>
          <a:p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Itaquas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sitiam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vent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fuga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.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Pelit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laut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pliciis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rem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reptatio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beatem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illestius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consecabo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.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Offici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con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re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pedi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omnis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as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essi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sinci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totae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perit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quamet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aut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liscium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landia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quiasit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iuntur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.</a:t>
            </a:r>
          </a:p>
          <a:p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Quunda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doloreste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volore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volores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maximus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eatur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sapicipici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ab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ium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non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nullori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dis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mos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autem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doluptassi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saniscitate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consequi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audae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simporem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si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venim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fugia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voloreptae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res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eturiam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aut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quiae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coribus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.</a:t>
            </a:r>
          </a:p>
          <a:p>
            <a:pPr lvl="0">
              <a:defRPr/>
            </a:pP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Ucia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sam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quid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quo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doles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sequias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rat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facersp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edissuntotas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et,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nis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di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berum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verore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,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sequas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represcium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faccabo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.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Adistis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dolor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atur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aliquatem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quo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modis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accaecum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nossunt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,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ipsam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ratiam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, </a:t>
            </a:r>
            <a:r>
              <a:rPr lang="de-DE" dirty="0" err="1">
                <a:solidFill>
                  <a:srgbClr val="2F2F2F"/>
                </a:solidFill>
                <a:latin typeface="Arial" panose="020B0604020202020204" pitchFamily="34" charset="0"/>
              </a:rPr>
              <a:t>voluptur</a:t>
            </a:r>
            <a:r>
              <a:rPr lang="de-DE" dirty="0">
                <a:solidFill>
                  <a:srgbClr val="2F2F2F"/>
                </a:solidFill>
                <a:latin typeface="Arial" panose="020B06040202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98513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rbübers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‹#›</a:t>
            </a:fld>
            <a:endParaRPr lang="de-DE" dirty="0"/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FF3871DC-3AE6-0046-9798-2B74B19887B1}"/>
              </a:ext>
            </a:extLst>
          </p:cNvPr>
          <p:cNvSpPr/>
          <p:nvPr userDrawn="1"/>
        </p:nvSpPr>
        <p:spPr>
          <a:xfrm>
            <a:off x="442800" y="1484313"/>
            <a:ext cx="832193" cy="685829"/>
          </a:xfrm>
          <a:prstGeom prst="rect">
            <a:avLst/>
          </a:prstGeom>
          <a:solidFill>
            <a:schemeClr val="tx1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R 0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G 136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B 58</a:t>
            </a:r>
            <a:endParaRPr lang="de-DE" sz="915" baseline="0" dirty="0">
              <a:solidFill>
                <a:schemeClr val="bg1"/>
              </a:solidFill>
              <a:effectLst/>
              <a:latin typeface="LMU CompatilFact" panose="02000500060000020003" pitchFamily="2" charset="0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323A9624-D6DE-C345-9C75-F17A8B2EFEFC}"/>
              </a:ext>
            </a:extLst>
          </p:cNvPr>
          <p:cNvSpPr/>
          <p:nvPr userDrawn="1"/>
        </p:nvSpPr>
        <p:spPr>
          <a:xfrm>
            <a:off x="2820756" y="1484313"/>
            <a:ext cx="832193" cy="685829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15" b="1" baseline="0" dirty="0">
                <a:solidFill>
                  <a:schemeClr val="tx2"/>
                </a:solidFill>
                <a:effectLst/>
                <a:latin typeface="LMU CompatilFact" panose="02000500060000020003" pitchFamily="2" charset="0"/>
              </a:rPr>
              <a:t>R 255</a:t>
            </a:r>
          </a:p>
          <a:p>
            <a:r>
              <a:rPr lang="de-DE" sz="915" b="1" baseline="0" dirty="0">
                <a:solidFill>
                  <a:schemeClr val="tx2"/>
                </a:solidFill>
                <a:effectLst/>
                <a:latin typeface="LMU CompatilFact" panose="02000500060000020003" pitchFamily="2" charset="0"/>
              </a:rPr>
              <a:t>G 255</a:t>
            </a:r>
          </a:p>
          <a:p>
            <a:r>
              <a:rPr lang="de-DE" sz="915" b="1" baseline="0" dirty="0">
                <a:solidFill>
                  <a:schemeClr val="tx2"/>
                </a:solidFill>
                <a:effectLst/>
                <a:latin typeface="LMU CompatilFact" panose="02000500060000020003" pitchFamily="2" charset="0"/>
              </a:rPr>
              <a:t>B 255</a:t>
            </a:r>
            <a:endParaRPr lang="de-DE" sz="915" baseline="0" dirty="0">
              <a:solidFill>
                <a:schemeClr val="tx2"/>
              </a:solidFill>
              <a:effectLst/>
              <a:latin typeface="LMU CompatilFact" panose="02000500060000020003" pitchFamily="2" charset="0"/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7699AD87-10CD-5C43-A6B2-3E71A6C1E6A5}"/>
              </a:ext>
            </a:extLst>
          </p:cNvPr>
          <p:cNvSpPr/>
          <p:nvPr userDrawn="1"/>
        </p:nvSpPr>
        <p:spPr>
          <a:xfrm>
            <a:off x="1631778" y="1484313"/>
            <a:ext cx="832193" cy="685829"/>
          </a:xfrm>
          <a:prstGeom prst="rect">
            <a:avLst/>
          </a:prstGeom>
          <a:solidFill>
            <a:schemeClr val="tx2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R 35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G 35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B 35</a:t>
            </a:r>
            <a:endParaRPr lang="de-DE" sz="915" baseline="0" dirty="0">
              <a:solidFill>
                <a:schemeClr val="bg1"/>
              </a:solidFill>
              <a:effectLst/>
              <a:latin typeface="LMU CompatilFact" panose="02000500060000020003" pitchFamily="2" charset="0"/>
            </a:endParaRP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7E6E40C0-B5CF-3040-971F-4D8BB55D0746}"/>
              </a:ext>
            </a:extLst>
          </p:cNvPr>
          <p:cNvSpPr/>
          <p:nvPr userDrawn="1"/>
        </p:nvSpPr>
        <p:spPr>
          <a:xfrm>
            <a:off x="442802" y="2240393"/>
            <a:ext cx="832193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b="1" baseline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LMU Grün </a:t>
            </a:r>
            <a:br>
              <a:rPr lang="de-DE" sz="800" b="1" baseline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</a:br>
            <a:endParaRPr lang="de-DE" sz="800" baseline="0" dirty="0"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5A2A488E-BCE0-BB4B-959A-3AC0A2CF9AFD}"/>
              </a:ext>
            </a:extLst>
          </p:cNvPr>
          <p:cNvSpPr/>
          <p:nvPr userDrawn="1"/>
        </p:nvSpPr>
        <p:spPr>
          <a:xfrm>
            <a:off x="442800" y="3144823"/>
            <a:ext cx="607189" cy="500399"/>
          </a:xfrm>
          <a:prstGeom prst="rect">
            <a:avLst/>
          </a:prstGeom>
          <a:solidFill>
            <a:schemeClr val="bg2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R 98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G 100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B 104</a:t>
            </a:r>
            <a:endParaRPr lang="de-DE" sz="915" baseline="0" dirty="0">
              <a:solidFill>
                <a:schemeClr val="bg1"/>
              </a:solidFill>
              <a:effectLst/>
              <a:latin typeface="LMU CompatilFact" panose="02000500060000020003" pitchFamily="2" charset="0"/>
            </a:endParaRP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BAF76B9D-1CB6-774E-B88E-0CACB598FEF6}"/>
              </a:ext>
            </a:extLst>
          </p:cNvPr>
          <p:cNvSpPr/>
          <p:nvPr userDrawn="1"/>
        </p:nvSpPr>
        <p:spPr>
          <a:xfrm>
            <a:off x="2177818" y="3144823"/>
            <a:ext cx="607189" cy="500399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R 230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G 230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B 231</a:t>
            </a:r>
            <a:endParaRPr lang="de-DE" sz="915" baseline="0" dirty="0">
              <a:solidFill>
                <a:schemeClr val="bg1"/>
              </a:solidFill>
              <a:effectLst/>
              <a:latin typeface="LMU CompatilFact" panose="02000500060000020003" pitchFamily="2" charset="0"/>
            </a:endParaRP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D45CC143-00CB-E043-9C6B-880F634668A7}"/>
              </a:ext>
            </a:extLst>
          </p:cNvPr>
          <p:cNvSpPr/>
          <p:nvPr userDrawn="1"/>
        </p:nvSpPr>
        <p:spPr>
          <a:xfrm>
            <a:off x="1310310" y="3144823"/>
            <a:ext cx="607189" cy="500399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R 192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G 193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B 195</a:t>
            </a:r>
            <a:endParaRPr lang="de-DE" sz="915" baseline="0" dirty="0">
              <a:solidFill>
                <a:schemeClr val="bg1"/>
              </a:solidFill>
              <a:effectLst/>
              <a:latin typeface="LMU CompatilFact" panose="02000500060000020003" pitchFamily="2" charset="0"/>
            </a:endParaRP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C2788AA0-4D28-CA47-A881-1819C9B7F2B2}"/>
              </a:ext>
            </a:extLst>
          </p:cNvPr>
          <p:cNvSpPr/>
          <p:nvPr userDrawn="1"/>
        </p:nvSpPr>
        <p:spPr>
          <a:xfrm>
            <a:off x="3045759" y="3144823"/>
            <a:ext cx="607189" cy="500399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15" b="1" baseline="0" dirty="0">
                <a:solidFill>
                  <a:schemeClr val="tx2"/>
                </a:solidFill>
                <a:effectLst/>
                <a:latin typeface="LMU CompatilFact" panose="02000500060000020003" pitchFamily="2" charset="0"/>
              </a:rPr>
              <a:t>R 245</a:t>
            </a:r>
          </a:p>
          <a:p>
            <a:r>
              <a:rPr lang="de-DE" sz="915" b="1" baseline="0" dirty="0">
                <a:solidFill>
                  <a:schemeClr val="tx2"/>
                </a:solidFill>
                <a:effectLst/>
                <a:latin typeface="LMU CompatilFact" panose="02000500060000020003" pitchFamily="2" charset="0"/>
              </a:rPr>
              <a:t>G 245</a:t>
            </a:r>
          </a:p>
          <a:p>
            <a:r>
              <a:rPr lang="de-DE" sz="915" b="1" baseline="0" dirty="0">
                <a:solidFill>
                  <a:schemeClr val="tx2"/>
                </a:solidFill>
                <a:effectLst/>
                <a:latin typeface="LMU CompatilFact" panose="02000500060000020003" pitchFamily="2" charset="0"/>
              </a:rPr>
              <a:t>B 245</a:t>
            </a:r>
            <a:endParaRPr lang="de-DE" sz="915" baseline="0" dirty="0">
              <a:solidFill>
                <a:schemeClr val="tx2"/>
              </a:solidFill>
              <a:effectLst/>
              <a:latin typeface="LMU CompatilFact" panose="02000500060000020003" pitchFamily="2" charset="0"/>
            </a:endParaRP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20A40CC5-176B-9442-82E4-408CAB2349BC}"/>
              </a:ext>
            </a:extLst>
          </p:cNvPr>
          <p:cNvSpPr/>
          <p:nvPr userDrawn="1"/>
        </p:nvSpPr>
        <p:spPr>
          <a:xfrm>
            <a:off x="442802" y="3750534"/>
            <a:ext cx="60718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b="1" baseline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Sekundär Dunkelgrau</a:t>
            </a:r>
            <a:endParaRPr lang="de-DE" sz="800" baseline="0" dirty="0"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FA56A28D-A369-AD4B-AF9B-25C454F18A4E}"/>
              </a:ext>
            </a:extLst>
          </p:cNvPr>
          <p:cNvSpPr/>
          <p:nvPr userDrawn="1"/>
        </p:nvSpPr>
        <p:spPr>
          <a:xfrm>
            <a:off x="1310310" y="3750534"/>
            <a:ext cx="60718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b="1" baseline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Sekundär Mittelgrau</a:t>
            </a:r>
            <a:endParaRPr lang="de-DE" sz="800" baseline="0" dirty="0"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7EF2EF5B-E92A-5D4A-8161-D33FFACE7341}"/>
              </a:ext>
            </a:extLst>
          </p:cNvPr>
          <p:cNvSpPr/>
          <p:nvPr userDrawn="1"/>
        </p:nvSpPr>
        <p:spPr>
          <a:xfrm>
            <a:off x="2187234" y="3750534"/>
            <a:ext cx="60718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b="1" baseline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Sekundär Hellgrau</a:t>
            </a:r>
            <a:endParaRPr lang="de-DE" sz="800" baseline="0" dirty="0"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14B21CFC-1C2A-AD4E-82DE-A68CEF4308BE}"/>
              </a:ext>
            </a:extLst>
          </p:cNvPr>
          <p:cNvSpPr/>
          <p:nvPr userDrawn="1"/>
        </p:nvSpPr>
        <p:spPr>
          <a:xfrm>
            <a:off x="3048909" y="3750534"/>
            <a:ext cx="60718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b="1" baseline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Sekundär Lichtgrau</a:t>
            </a:r>
            <a:endParaRPr lang="de-DE" sz="800" baseline="0" dirty="0"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C73389B4-7374-AB43-B9CD-0CA5B6ED4B02}"/>
              </a:ext>
            </a:extLst>
          </p:cNvPr>
          <p:cNvSpPr/>
          <p:nvPr userDrawn="1"/>
        </p:nvSpPr>
        <p:spPr>
          <a:xfrm>
            <a:off x="1617118" y="2240392"/>
            <a:ext cx="832193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b="1" baseline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Schwarz</a:t>
            </a:r>
            <a:endParaRPr lang="de-DE" sz="800" baseline="0" dirty="0"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A8E62580-B452-9141-99B8-14D406341FD8}"/>
              </a:ext>
            </a:extLst>
          </p:cNvPr>
          <p:cNvSpPr/>
          <p:nvPr userDrawn="1"/>
        </p:nvSpPr>
        <p:spPr>
          <a:xfrm>
            <a:off x="2821937" y="2240392"/>
            <a:ext cx="832193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b="1" baseline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Weiss</a:t>
            </a:r>
            <a:endParaRPr lang="de-DE" sz="800" baseline="0" dirty="0"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5C5DB8B7-067A-624F-90A9-5FE69A8819FA}"/>
              </a:ext>
            </a:extLst>
          </p:cNvPr>
          <p:cNvSpPr/>
          <p:nvPr userDrawn="1"/>
        </p:nvSpPr>
        <p:spPr>
          <a:xfrm>
            <a:off x="4619182" y="1485446"/>
            <a:ext cx="607189" cy="500399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R 15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G 25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B 135</a:t>
            </a:r>
            <a:endParaRPr lang="de-DE" sz="915" baseline="0" dirty="0">
              <a:solidFill>
                <a:schemeClr val="bg1"/>
              </a:solidFill>
              <a:effectLst/>
              <a:latin typeface="LMU CompatilFact" panose="02000500060000020003" pitchFamily="2" charset="0"/>
            </a:endParaRPr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1A10FA4C-181C-BD41-AD4E-730F52457796}"/>
              </a:ext>
            </a:extLst>
          </p:cNvPr>
          <p:cNvSpPr/>
          <p:nvPr userDrawn="1"/>
        </p:nvSpPr>
        <p:spPr>
          <a:xfrm>
            <a:off x="6354200" y="1485446"/>
            <a:ext cx="607189" cy="500399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R 140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G 64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B 145</a:t>
            </a:r>
            <a:endParaRPr lang="de-DE" sz="915" baseline="0" dirty="0">
              <a:solidFill>
                <a:schemeClr val="bg1"/>
              </a:solidFill>
              <a:effectLst/>
              <a:latin typeface="LMU CompatilFact" panose="02000500060000020003" pitchFamily="2" charset="0"/>
            </a:endParaRPr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A2466A38-6ECC-DF4F-869F-B98502E2D6A6}"/>
              </a:ext>
            </a:extLst>
          </p:cNvPr>
          <p:cNvSpPr/>
          <p:nvPr userDrawn="1"/>
        </p:nvSpPr>
        <p:spPr>
          <a:xfrm>
            <a:off x="5486692" y="1485446"/>
            <a:ext cx="607189" cy="500399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R 100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G 59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B 227</a:t>
            </a:r>
            <a:endParaRPr lang="de-DE" sz="915" baseline="0" dirty="0">
              <a:solidFill>
                <a:schemeClr val="bg1"/>
              </a:solidFill>
              <a:effectLst/>
              <a:latin typeface="LMU CompatilFact" panose="02000500060000020003" pitchFamily="2" charset="0"/>
            </a:endParaRPr>
          </a:p>
        </p:txBody>
      </p:sp>
      <p:sp>
        <p:nvSpPr>
          <p:cNvPr id="69" name="Rechteck 68">
            <a:extLst>
              <a:ext uri="{FF2B5EF4-FFF2-40B4-BE49-F238E27FC236}">
                <a16:creationId xmlns:a16="http://schemas.microsoft.com/office/drawing/2014/main" id="{59F62C27-0EB2-5442-90B6-6A8F0C17931E}"/>
              </a:ext>
            </a:extLst>
          </p:cNvPr>
          <p:cNvSpPr/>
          <p:nvPr userDrawn="1"/>
        </p:nvSpPr>
        <p:spPr>
          <a:xfrm>
            <a:off x="7222141" y="1485446"/>
            <a:ext cx="607189" cy="500399"/>
          </a:xfrm>
          <a:prstGeom prst="rect">
            <a:avLst/>
          </a:prstGeom>
          <a:solidFill>
            <a:srgbClr val="DC0D15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R 215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G 25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B 25</a:t>
            </a:r>
            <a:endParaRPr lang="de-DE" sz="915" baseline="0" dirty="0">
              <a:solidFill>
                <a:schemeClr val="bg1"/>
              </a:solidFill>
              <a:effectLst/>
              <a:latin typeface="LMU CompatilFact" panose="02000500060000020003" pitchFamily="2" charset="0"/>
            </a:endParaRP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5B9B3239-0231-A24D-B42D-624E409B3D20}"/>
              </a:ext>
            </a:extLst>
          </p:cNvPr>
          <p:cNvSpPr/>
          <p:nvPr userDrawn="1"/>
        </p:nvSpPr>
        <p:spPr>
          <a:xfrm>
            <a:off x="4619184" y="2091158"/>
            <a:ext cx="607188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b="1" baseline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Akzent Blau</a:t>
            </a:r>
            <a:endParaRPr lang="de-DE" sz="800" baseline="0" dirty="0"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D90492F4-04D9-0D48-A32F-3E322C29483A}"/>
              </a:ext>
            </a:extLst>
          </p:cNvPr>
          <p:cNvSpPr/>
          <p:nvPr userDrawn="1"/>
        </p:nvSpPr>
        <p:spPr>
          <a:xfrm>
            <a:off x="5486691" y="2091158"/>
            <a:ext cx="705915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b="1" baseline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Akzent Cyan</a:t>
            </a:r>
            <a:endParaRPr lang="de-DE" sz="800" baseline="0" dirty="0"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0C3949AB-62CF-6643-83F3-F76B12005678}"/>
              </a:ext>
            </a:extLst>
          </p:cNvPr>
          <p:cNvSpPr/>
          <p:nvPr userDrawn="1"/>
        </p:nvSpPr>
        <p:spPr>
          <a:xfrm>
            <a:off x="6363616" y="2091157"/>
            <a:ext cx="705914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b="1" baseline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Akzent Violett</a:t>
            </a:r>
            <a:endParaRPr lang="de-DE" sz="800" baseline="0" dirty="0"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3CD1B9CD-D09C-5D4A-B064-6355897E2041}"/>
              </a:ext>
            </a:extLst>
          </p:cNvPr>
          <p:cNvSpPr/>
          <p:nvPr userDrawn="1"/>
        </p:nvSpPr>
        <p:spPr>
          <a:xfrm>
            <a:off x="7225291" y="2091158"/>
            <a:ext cx="607188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b="1" baseline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Akzent Rot</a:t>
            </a:r>
            <a:endParaRPr lang="de-DE" sz="800" baseline="0" dirty="0"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E0B457DF-BD61-044B-ACA4-342889CA02A1}"/>
              </a:ext>
            </a:extLst>
          </p:cNvPr>
          <p:cNvSpPr/>
          <p:nvPr userDrawn="1"/>
        </p:nvSpPr>
        <p:spPr>
          <a:xfrm>
            <a:off x="4619182" y="2490933"/>
            <a:ext cx="607189" cy="500399"/>
          </a:xfrm>
          <a:prstGeom prst="rect">
            <a:avLst/>
          </a:prstGeom>
          <a:solidFill>
            <a:srgbClr val="F18700"/>
          </a:solidFill>
          <a:ln w="31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R 241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G 135</a:t>
            </a:r>
          </a:p>
          <a:p>
            <a:r>
              <a:rPr lang="de-DE" sz="915" b="1" baseline="0" dirty="0">
                <a:solidFill>
                  <a:schemeClr val="bg1"/>
                </a:solidFill>
                <a:effectLst/>
                <a:latin typeface="LMU CompatilFact" panose="02000500060000020003" pitchFamily="2" charset="0"/>
              </a:rPr>
              <a:t>B 0</a:t>
            </a:r>
            <a:endParaRPr lang="de-DE" sz="915" baseline="0" dirty="0">
              <a:solidFill>
                <a:schemeClr val="bg1"/>
              </a:solidFill>
              <a:effectLst/>
              <a:latin typeface="LMU CompatilFact" panose="02000500060000020003" pitchFamily="2" charset="0"/>
            </a:endParaRPr>
          </a:p>
        </p:txBody>
      </p:sp>
      <p:sp>
        <p:nvSpPr>
          <p:cNvPr id="75" name="Rechteck 74">
            <a:extLst>
              <a:ext uri="{FF2B5EF4-FFF2-40B4-BE49-F238E27FC236}">
                <a16:creationId xmlns:a16="http://schemas.microsoft.com/office/drawing/2014/main" id="{4931D8B5-D9AB-D547-B4C3-602A0499C239}"/>
              </a:ext>
            </a:extLst>
          </p:cNvPr>
          <p:cNvSpPr/>
          <p:nvPr userDrawn="1"/>
        </p:nvSpPr>
        <p:spPr>
          <a:xfrm>
            <a:off x="4619184" y="3096644"/>
            <a:ext cx="867508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b="1" baseline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Akzent Orange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8565346-2219-4849-9A7A-79720DD036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77818" y="444257"/>
            <a:ext cx="9571269" cy="104998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200" b="1"/>
            </a:lvl1pPr>
          </a:lstStyle>
          <a:p>
            <a:r>
              <a:rPr lang="de-DE" dirty="0"/>
              <a:t>Farbübersicht</a:t>
            </a:r>
          </a:p>
        </p:txBody>
      </p:sp>
    </p:spTree>
    <p:extLst>
      <p:ext uri="{BB962C8B-B14F-4D97-AF65-F5344CB8AC3E}">
        <p14:creationId xmlns:p14="http://schemas.microsoft.com/office/powerpoint/2010/main" val="2774680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_mit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‹#›</a:t>
            </a:fld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8565346-2219-4849-9A7A-79720DD036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80492" y="444257"/>
            <a:ext cx="9568595" cy="104998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200" b="1"/>
            </a:lvl1pPr>
          </a:lstStyle>
          <a:p>
            <a:r>
              <a:rPr lang="de-DE" dirty="0"/>
              <a:t>Titel mit Inhalt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BEFC134-44F4-4ACC-9EF7-B0CCCECBE3A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6088" y="1484313"/>
            <a:ext cx="11303000" cy="4929187"/>
          </a:xfrm>
          <a:prstGeom prst="rect">
            <a:avLst/>
          </a:prstGeom>
        </p:spPr>
        <p:txBody>
          <a:bodyPr/>
          <a:lstStyle>
            <a:lvl1pPr>
              <a:buClr>
                <a:schemeClr val="tx1"/>
              </a:buClr>
              <a:defRPr>
                <a:solidFill>
                  <a:srgbClr val="616468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616468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616468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616468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616468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595358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_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F2973FF0-2276-5A4B-B95B-42413B8B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6400" y="6426773"/>
            <a:ext cx="720000" cy="27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algn="l"/>
            <a:fld id="{3889EAAA-2A39-E347-B0AA-909793490C00}" type="slidenum">
              <a:rPr lang="de-DE" smtClean="0"/>
              <a:pPr algn="l"/>
              <a:t>‹#›</a:t>
            </a:fld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8565346-2219-4849-9A7A-79720DD036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71700" y="444257"/>
            <a:ext cx="9577387" cy="104998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200" b="1"/>
            </a:lvl1pPr>
          </a:lstStyle>
          <a:p>
            <a:r>
              <a:rPr lang="de-DE" dirty="0"/>
              <a:t>Nur Titel</a:t>
            </a:r>
          </a:p>
        </p:txBody>
      </p:sp>
    </p:spTree>
    <p:extLst>
      <p:ext uri="{BB962C8B-B14F-4D97-AF65-F5344CB8AC3E}">
        <p14:creationId xmlns:p14="http://schemas.microsoft.com/office/powerpoint/2010/main" val="6102480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53986-084D-4FE6-A8B5-386CB4A40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CDB0C-DA82-492E-AC59-2558DA9B1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AAA96-5898-4D9A-892E-988958584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5369D-99BE-4315-8469-CFDA6C4E71A8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89EE7-7EF3-4EDE-817C-4D241FEBC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6EB93-710F-4513-A336-05E4D42FF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2B802-5BE0-498E-A4DC-6842AA6245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605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ück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4">
            <a:extLst>
              <a:ext uri="{FF2B5EF4-FFF2-40B4-BE49-F238E27FC236}">
                <a16:creationId xmlns:a16="http://schemas.microsoft.com/office/drawing/2014/main" id="{63CEC714-79BB-CB4B-8FB7-5903011CD8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400" y="5184000"/>
            <a:ext cx="5649600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ts val="1800"/>
              </a:lnSpc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 dirty="0">
                <a:effectLst/>
                <a:latin typeface="Arial" panose="020B0604020202020204" pitchFamily="34" charset="0"/>
              </a:rPr>
              <a:t>Absendername </a:t>
            </a:r>
            <a:br>
              <a:rPr lang="de-DE" b="1" dirty="0">
                <a:effectLst/>
                <a:latin typeface="Arial" panose="020B0604020202020204" pitchFamily="34" charset="0"/>
              </a:rPr>
            </a:br>
            <a:r>
              <a:rPr lang="de-DE" b="1" dirty="0">
                <a:effectLst/>
                <a:latin typeface="Arial" panose="020B0604020202020204" pitchFamily="34" charset="0"/>
              </a:rPr>
              <a:t>Musterstraße 00 · 80000 München · Tel. +49 89 0000 0000 </a:t>
            </a:r>
            <a:br>
              <a:rPr lang="de-DE" b="1" dirty="0">
                <a:effectLst/>
                <a:latin typeface="Arial" panose="020B0604020202020204" pitchFamily="34" charset="0"/>
              </a:rPr>
            </a:br>
            <a:r>
              <a:rPr lang="de-DE" b="1" dirty="0" err="1">
                <a:effectLst/>
                <a:latin typeface="Arial" panose="020B0604020202020204" pitchFamily="34" charset="0"/>
              </a:rPr>
              <a:t>info@musterdomain.de</a:t>
            </a:r>
            <a:r>
              <a:rPr lang="de-DE" b="1" dirty="0">
                <a:effectLst/>
                <a:latin typeface="Arial" panose="020B0604020202020204" pitchFamily="34" charset="0"/>
              </a:rPr>
              <a:t> · </a:t>
            </a:r>
            <a:r>
              <a:rPr lang="de-DE" b="1" dirty="0" err="1">
                <a:effectLst/>
                <a:latin typeface="Arial" panose="020B0604020202020204" pitchFamily="34" charset="0"/>
              </a:rPr>
              <a:t>www.musterdomain.de</a:t>
            </a:r>
            <a:endParaRPr lang="de-DE" dirty="0">
              <a:effectLst/>
              <a:latin typeface="Arial" panose="020B0604020202020204" pitchFamily="34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CD72F1F-1A49-6848-A8CB-5DD9EC0B6D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8648700" y="2743200"/>
            <a:ext cx="35433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783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emf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emf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5.emf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DFD8EF26-FA82-6D40-93F2-70EAE952FA46}"/>
              </a:ext>
            </a:extLst>
          </p:cNvPr>
          <p:cNvSpPr/>
          <p:nvPr userDrawn="1"/>
        </p:nvSpPr>
        <p:spPr>
          <a:xfrm>
            <a:off x="1" y="1483200"/>
            <a:ext cx="5376454" cy="5374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DA465598-6EE5-EE49-A177-6E3551F9A56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46400" y="442800"/>
            <a:ext cx="11303000" cy="825500"/>
          </a:xfrm>
          <a:prstGeom prst="rect">
            <a:avLst/>
          </a:prstGeom>
        </p:spPr>
      </p:pic>
      <p:sp>
        <p:nvSpPr>
          <p:cNvPr id="4" name="Textplatzhalter 12">
            <a:extLst>
              <a:ext uri="{FF2B5EF4-FFF2-40B4-BE49-F238E27FC236}">
                <a16:creationId xmlns:a16="http://schemas.microsoft.com/office/drawing/2014/main" id="{72900BE9-8F50-4263-A938-5D590CA186C7}"/>
              </a:ext>
            </a:extLst>
          </p:cNvPr>
          <p:cNvSpPr txBox="1">
            <a:spLocks/>
          </p:cNvSpPr>
          <p:nvPr userDrawn="1"/>
        </p:nvSpPr>
        <p:spPr>
          <a:xfrm>
            <a:off x="2292387" y="441325"/>
            <a:ext cx="7724551" cy="825500"/>
          </a:xfrm>
          <a:prstGeom prst="rect">
            <a:avLst/>
          </a:prstGeom>
        </p:spPr>
        <p:txBody>
          <a:bodyPr lIns="54000" tIns="356400" rIns="54000" bIns="43200" anchor="b" anchorCtr="0"/>
          <a:lstStyle>
            <a:lvl1pPr marL="0" indent="0" algn="l" defTabSz="815557" rtl="0" eaLnBrk="1" latinLnBrk="0" hangingPunct="1">
              <a:lnSpc>
                <a:spcPct val="88000"/>
              </a:lnSpc>
              <a:spcBef>
                <a:spcPts val="0"/>
              </a:spcBef>
              <a:buFontTx/>
              <a:buNone/>
              <a:defRPr sz="680" b="1" i="0" kern="1200" cap="all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1668" indent="0" algn="l" defTabSz="815557" rtl="0" eaLnBrk="1" latinLnBrk="0" hangingPunct="1">
              <a:lnSpc>
                <a:spcPts val="880"/>
              </a:lnSpc>
              <a:spcBef>
                <a:spcPts val="446"/>
              </a:spcBef>
              <a:buFontTx/>
              <a:buNone/>
              <a:defRPr sz="680" b="1" i="0" kern="1200" cap="all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9447" indent="0" algn="l" defTabSz="815557" rtl="0" eaLnBrk="1" latinLnBrk="0" hangingPunct="1">
              <a:lnSpc>
                <a:spcPts val="880"/>
              </a:lnSpc>
              <a:spcBef>
                <a:spcPts val="446"/>
              </a:spcBef>
              <a:buFontTx/>
              <a:buNone/>
              <a:defRPr sz="680" b="1" i="0" kern="1200" cap="all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225" indent="0" algn="l" defTabSz="815557" rtl="0" eaLnBrk="1" latinLnBrk="0" hangingPunct="1">
              <a:lnSpc>
                <a:spcPts val="880"/>
              </a:lnSpc>
              <a:spcBef>
                <a:spcPts val="446"/>
              </a:spcBef>
              <a:buFontTx/>
              <a:buNone/>
              <a:defRPr sz="680" b="1" i="0" kern="1200" cap="all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35003" indent="0" algn="l" defTabSz="815557" rtl="0" eaLnBrk="1" latinLnBrk="0" hangingPunct="1">
              <a:lnSpc>
                <a:spcPts val="880"/>
              </a:lnSpc>
              <a:spcBef>
                <a:spcPts val="446"/>
              </a:spcBef>
              <a:buFontTx/>
              <a:buNone/>
              <a:defRPr sz="680" b="1" i="0" kern="1200" cap="all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42782" indent="-203890" algn="l" defTabSz="815557" rtl="0" eaLnBrk="1" latinLnBrk="0" hangingPunct="1">
              <a:lnSpc>
                <a:spcPct val="90000"/>
              </a:lnSpc>
              <a:spcBef>
                <a:spcPts val="446"/>
              </a:spcBef>
              <a:buFont typeface="Arial" panose="020B0604020202020204" pitchFamily="34" charset="0"/>
              <a:buChar char="•"/>
              <a:defRPr sz="16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50560" indent="-203890" algn="l" defTabSz="815557" rtl="0" eaLnBrk="1" latinLnBrk="0" hangingPunct="1">
              <a:lnSpc>
                <a:spcPct val="90000"/>
              </a:lnSpc>
              <a:spcBef>
                <a:spcPts val="446"/>
              </a:spcBef>
              <a:buFont typeface="Arial" panose="020B0604020202020204" pitchFamily="34" charset="0"/>
              <a:buChar char="•"/>
              <a:defRPr sz="16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58339" indent="-203890" algn="l" defTabSz="815557" rtl="0" eaLnBrk="1" latinLnBrk="0" hangingPunct="1">
              <a:lnSpc>
                <a:spcPct val="90000"/>
              </a:lnSpc>
              <a:spcBef>
                <a:spcPts val="446"/>
              </a:spcBef>
              <a:buFont typeface="Arial" panose="020B0604020202020204" pitchFamily="34" charset="0"/>
              <a:buChar char="•"/>
              <a:defRPr sz="16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66117" indent="-203890" algn="l" defTabSz="815557" rtl="0" eaLnBrk="1" latinLnBrk="0" hangingPunct="1">
              <a:lnSpc>
                <a:spcPct val="90000"/>
              </a:lnSpc>
              <a:spcBef>
                <a:spcPts val="446"/>
              </a:spcBef>
              <a:buFont typeface="Arial" panose="020B0604020202020204" pitchFamily="34" charset="0"/>
              <a:buChar char="•"/>
              <a:defRPr sz="16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>
                <a:latin typeface="Arial" panose="020B0604020202020204" pitchFamily="34" charset="0"/>
              </a:rPr>
              <a:t>ÜBERSCHRIFT / TITEL / EINRICHTUNG XY</a:t>
            </a:r>
            <a:endParaRPr lang="de-DE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6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1" r:id="rId2"/>
    <p:sldLayoutId id="2147483669" r:id="rId3"/>
    <p:sldLayoutId id="2147483655" r:id="rId4"/>
  </p:sldLayoutIdLst>
  <p:hf hdr="0" ftr="0"/>
  <p:txStyles>
    <p:titleStyle>
      <a:lvl1pPr algn="l" defTabSz="815557" rtl="0" eaLnBrk="1" latinLnBrk="0" hangingPunct="1">
        <a:lnSpc>
          <a:spcPct val="90000"/>
        </a:lnSpc>
        <a:spcBef>
          <a:spcPct val="0"/>
        </a:spcBef>
        <a:buNone/>
        <a:defRPr sz="39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3890" indent="-203890" algn="l" defTabSz="815557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2498" kern="1200">
          <a:solidFill>
            <a:schemeClr val="tx1"/>
          </a:solidFill>
          <a:latin typeface="+mn-lt"/>
          <a:ea typeface="+mn-ea"/>
          <a:cs typeface="+mn-cs"/>
        </a:defRPr>
      </a:lvl1pPr>
      <a:lvl2pPr marL="611668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2141" kern="1200">
          <a:solidFill>
            <a:schemeClr val="tx1"/>
          </a:solidFill>
          <a:latin typeface="+mn-lt"/>
          <a:ea typeface="+mn-ea"/>
          <a:cs typeface="+mn-cs"/>
        </a:defRPr>
      </a:lvl2pPr>
      <a:lvl3pPr marL="1019447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784" kern="1200">
          <a:solidFill>
            <a:schemeClr val="tx1"/>
          </a:solidFill>
          <a:latin typeface="+mn-lt"/>
          <a:ea typeface="+mn-ea"/>
          <a:cs typeface="+mn-cs"/>
        </a:defRPr>
      </a:lvl3pPr>
      <a:lvl4pPr marL="1427225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835003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242782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650560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3058339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466117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1pPr>
      <a:lvl2pPr marL="407778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2pPr>
      <a:lvl3pPr marL="815557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3pPr>
      <a:lvl4pPr marL="1223335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631114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038892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446670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2854449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262227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935" userDrawn="1">
          <p15:clr>
            <a:srgbClr val="F26B43"/>
          </p15:clr>
        </p15:guide>
        <p15:guide id="5" orient="horz" pos="4042" userDrawn="1">
          <p15:clr>
            <a:srgbClr val="F26B43"/>
          </p15:clr>
        </p15:guide>
        <p15:guide id="9" pos="7401" userDrawn="1">
          <p15:clr>
            <a:srgbClr val="F26B43"/>
          </p15:clr>
        </p15:guide>
        <p15:guide id="13" pos="279" userDrawn="1">
          <p15:clr>
            <a:srgbClr val="F26B43"/>
          </p15:clr>
        </p15:guide>
        <p15:guide id="14" orient="horz" pos="278" userDrawn="1">
          <p15:clr>
            <a:srgbClr val="F26B43"/>
          </p15:clr>
        </p15:guide>
        <p15:guide id="15" orient="horz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DFD8EF26-FA82-6D40-93F2-70EAE952FA46}"/>
              </a:ext>
            </a:extLst>
          </p:cNvPr>
          <p:cNvSpPr/>
          <p:nvPr userDrawn="1"/>
        </p:nvSpPr>
        <p:spPr>
          <a:xfrm>
            <a:off x="1" y="1483200"/>
            <a:ext cx="5376454" cy="5374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4EC720E-3048-2B4D-B927-E08F3BECF12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44500" y="434007"/>
            <a:ext cx="11303000" cy="825500"/>
          </a:xfrm>
          <a:prstGeom prst="rect">
            <a:avLst/>
          </a:prstGeom>
        </p:spPr>
      </p:pic>
      <p:sp>
        <p:nvSpPr>
          <p:cNvPr id="4" name="Textplatzhalter 12">
            <a:extLst>
              <a:ext uri="{FF2B5EF4-FFF2-40B4-BE49-F238E27FC236}">
                <a16:creationId xmlns:a16="http://schemas.microsoft.com/office/drawing/2014/main" id="{E4949F85-F22A-42C3-AF21-DE866F94DD3C}"/>
              </a:ext>
            </a:extLst>
          </p:cNvPr>
          <p:cNvSpPr txBox="1">
            <a:spLocks/>
          </p:cNvSpPr>
          <p:nvPr userDrawn="1"/>
        </p:nvSpPr>
        <p:spPr>
          <a:xfrm>
            <a:off x="2292387" y="432533"/>
            <a:ext cx="7724551" cy="825500"/>
          </a:xfrm>
          <a:prstGeom prst="rect">
            <a:avLst/>
          </a:prstGeom>
        </p:spPr>
        <p:txBody>
          <a:bodyPr lIns="54000" tIns="356400" rIns="54000" bIns="43200" anchor="b" anchorCtr="0"/>
          <a:lstStyle>
            <a:lvl1pPr marL="0" indent="0" algn="l" defTabSz="815557" rtl="0" eaLnBrk="1" latinLnBrk="0" hangingPunct="1">
              <a:lnSpc>
                <a:spcPct val="88000"/>
              </a:lnSpc>
              <a:spcBef>
                <a:spcPts val="0"/>
              </a:spcBef>
              <a:buFontTx/>
              <a:buNone/>
              <a:defRPr sz="680" b="1" i="0" kern="1200" cap="all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1668" indent="0" algn="l" defTabSz="815557" rtl="0" eaLnBrk="1" latinLnBrk="0" hangingPunct="1">
              <a:lnSpc>
                <a:spcPts val="880"/>
              </a:lnSpc>
              <a:spcBef>
                <a:spcPts val="446"/>
              </a:spcBef>
              <a:buFontTx/>
              <a:buNone/>
              <a:defRPr sz="680" b="1" i="0" kern="1200" cap="all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9447" indent="0" algn="l" defTabSz="815557" rtl="0" eaLnBrk="1" latinLnBrk="0" hangingPunct="1">
              <a:lnSpc>
                <a:spcPts val="880"/>
              </a:lnSpc>
              <a:spcBef>
                <a:spcPts val="446"/>
              </a:spcBef>
              <a:buFontTx/>
              <a:buNone/>
              <a:defRPr sz="680" b="1" i="0" kern="1200" cap="all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7225" indent="0" algn="l" defTabSz="815557" rtl="0" eaLnBrk="1" latinLnBrk="0" hangingPunct="1">
              <a:lnSpc>
                <a:spcPts val="880"/>
              </a:lnSpc>
              <a:spcBef>
                <a:spcPts val="446"/>
              </a:spcBef>
              <a:buFontTx/>
              <a:buNone/>
              <a:defRPr sz="680" b="1" i="0" kern="1200" cap="all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35003" indent="0" algn="l" defTabSz="815557" rtl="0" eaLnBrk="1" latinLnBrk="0" hangingPunct="1">
              <a:lnSpc>
                <a:spcPts val="880"/>
              </a:lnSpc>
              <a:spcBef>
                <a:spcPts val="446"/>
              </a:spcBef>
              <a:buFontTx/>
              <a:buNone/>
              <a:defRPr sz="680" b="1" i="0" kern="1200" cap="all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42782" indent="-203890" algn="l" defTabSz="815557" rtl="0" eaLnBrk="1" latinLnBrk="0" hangingPunct="1">
              <a:lnSpc>
                <a:spcPct val="90000"/>
              </a:lnSpc>
              <a:spcBef>
                <a:spcPts val="446"/>
              </a:spcBef>
              <a:buFont typeface="Arial" panose="020B0604020202020204" pitchFamily="34" charset="0"/>
              <a:buChar char="•"/>
              <a:defRPr sz="16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50560" indent="-203890" algn="l" defTabSz="815557" rtl="0" eaLnBrk="1" latinLnBrk="0" hangingPunct="1">
              <a:lnSpc>
                <a:spcPct val="90000"/>
              </a:lnSpc>
              <a:spcBef>
                <a:spcPts val="446"/>
              </a:spcBef>
              <a:buFont typeface="Arial" panose="020B0604020202020204" pitchFamily="34" charset="0"/>
              <a:buChar char="•"/>
              <a:defRPr sz="16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58339" indent="-203890" algn="l" defTabSz="815557" rtl="0" eaLnBrk="1" latinLnBrk="0" hangingPunct="1">
              <a:lnSpc>
                <a:spcPct val="90000"/>
              </a:lnSpc>
              <a:spcBef>
                <a:spcPts val="446"/>
              </a:spcBef>
              <a:buFont typeface="Arial" panose="020B0604020202020204" pitchFamily="34" charset="0"/>
              <a:buChar char="•"/>
              <a:defRPr sz="16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66117" indent="-203890" algn="l" defTabSz="815557" rtl="0" eaLnBrk="1" latinLnBrk="0" hangingPunct="1">
              <a:lnSpc>
                <a:spcPct val="90000"/>
              </a:lnSpc>
              <a:spcBef>
                <a:spcPts val="446"/>
              </a:spcBef>
              <a:buFont typeface="Arial" panose="020B0604020202020204" pitchFamily="34" charset="0"/>
              <a:buChar char="•"/>
              <a:defRPr sz="16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>
                <a:latin typeface="Arial" panose="020B0604020202020204" pitchFamily="34" charset="0"/>
              </a:rPr>
              <a:t>ÜBERSCHRIFT / TITEL / EINRICHTUNG XY</a:t>
            </a:r>
            <a:endParaRPr lang="de-DE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856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6" r:id="rId2"/>
    <p:sldLayoutId id="2147483677" r:id="rId3"/>
    <p:sldLayoutId id="2147483678" r:id="rId4"/>
  </p:sldLayoutIdLst>
  <p:hf hdr="0" ftr="0"/>
  <p:txStyles>
    <p:titleStyle>
      <a:lvl1pPr algn="l" defTabSz="815557" rtl="0" eaLnBrk="1" latinLnBrk="0" hangingPunct="1">
        <a:lnSpc>
          <a:spcPct val="90000"/>
        </a:lnSpc>
        <a:spcBef>
          <a:spcPct val="0"/>
        </a:spcBef>
        <a:buNone/>
        <a:defRPr sz="39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3890" indent="-203890" algn="l" defTabSz="815557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2498" kern="1200">
          <a:solidFill>
            <a:schemeClr val="tx1"/>
          </a:solidFill>
          <a:latin typeface="+mn-lt"/>
          <a:ea typeface="+mn-ea"/>
          <a:cs typeface="+mn-cs"/>
        </a:defRPr>
      </a:lvl1pPr>
      <a:lvl2pPr marL="611668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2141" kern="1200">
          <a:solidFill>
            <a:schemeClr val="tx1"/>
          </a:solidFill>
          <a:latin typeface="+mn-lt"/>
          <a:ea typeface="+mn-ea"/>
          <a:cs typeface="+mn-cs"/>
        </a:defRPr>
      </a:lvl2pPr>
      <a:lvl3pPr marL="1019447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784" kern="1200">
          <a:solidFill>
            <a:schemeClr val="tx1"/>
          </a:solidFill>
          <a:latin typeface="+mn-lt"/>
          <a:ea typeface="+mn-ea"/>
          <a:cs typeface="+mn-cs"/>
        </a:defRPr>
      </a:lvl3pPr>
      <a:lvl4pPr marL="1427225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835003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242782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650560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3058339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466117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1pPr>
      <a:lvl2pPr marL="407778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2pPr>
      <a:lvl3pPr marL="815557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3pPr>
      <a:lvl4pPr marL="1223335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631114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038892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446670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2854449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262227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935">
          <p15:clr>
            <a:srgbClr val="F26B43"/>
          </p15:clr>
        </p15:guide>
        <p15:guide id="5" orient="horz" pos="4042">
          <p15:clr>
            <a:srgbClr val="F26B43"/>
          </p15:clr>
        </p15:guide>
        <p15:guide id="9" pos="7401">
          <p15:clr>
            <a:srgbClr val="F26B43"/>
          </p15:clr>
        </p15:guide>
        <p15:guide id="13" pos="279">
          <p15:clr>
            <a:srgbClr val="F26B43"/>
          </p15:clr>
        </p15:guide>
        <p15:guide id="14" orient="horz" pos="278">
          <p15:clr>
            <a:srgbClr val="F26B43"/>
          </p15:clr>
        </p15:guide>
        <p15:guide id="15" orient="horz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2799E554-D74C-2D46-A4A0-20AFFC9B03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8648700" y="2743200"/>
            <a:ext cx="3543300" cy="41148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A7DF8FA-2683-4642-B02D-78840267E6F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46399" y="441325"/>
            <a:ext cx="1744349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947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ftr="0"/>
  <p:txStyles>
    <p:titleStyle>
      <a:lvl1pPr algn="l" defTabSz="815557" rtl="0" eaLnBrk="1" latinLnBrk="0" hangingPunct="1">
        <a:lnSpc>
          <a:spcPct val="90000"/>
        </a:lnSpc>
        <a:spcBef>
          <a:spcPct val="0"/>
        </a:spcBef>
        <a:buNone/>
        <a:defRPr sz="39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3890" indent="-203890" algn="l" defTabSz="815557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2498" kern="1200">
          <a:solidFill>
            <a:schemeClr val="tx1"/>
          </a:solidFill>
          <a:latin typeface="+mn-lt"/>
          <a:ea typeface="+mn-ea"/>
          <a:cs typeface="+mn-cs"/>
        </a:defRPr>
      </a:lvl1pPr>
      <a:lvl2pPr marL="611668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2141" kern="1200">
          <a:solidFill>
            <a:schemeClr val="tx1"/>
          </a:solidFill>
          <a:latin typeface="+mn-lt"/>
          <a:ea typeface="+mn-ea"/>
          <a:cs typeface="+mn-cs"/>
        </a:defRPr>
      </a:lvl2pPr>
      <a:lvl3pPr marL="1019447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784" kern="1200">
          <a:solidFill>
            <a:schemeClr val="tx1"/>
          </a:solidFill>
          <a:latin typeface="+mn-lt"/>
          <a:ea typeface="+mn-ea"/>
          <a:cs typeface="+mn-cs"/>
        </a:defRPr>
      </a:lvl3pPr>
      <a:lvl4pPr marL="1427225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835003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242782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650560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3058339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466117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1pPr>
      <a:lvl2pPr marL="407778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2pPr>
      <a:lvl3pPr marL="815557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3pPr>
      <a:lvl4pPr marL="1223335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631114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038892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446670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2854449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262227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935">
          <p15:clr>
            <a:srgbClr val="F26B43"/>
          </p15:clr>
        </p15:guide>
        <p15:guide id="5" orient="horz" pos="4042">
          <p15:clr>
            <a:srgbClr val="F26B43"/>
          </p15:clr>
        </p15:guide>
        <p15:guide id="9" pos="7401">
          <p15:clr>
            <a:srgbClr val="F26B43"/>
          </p15:clr>
        </p15:guide>
        <p15:guide id="13" pos="279">
          <p15:clr>
            <a:srgbClr val="F26B43"/>
          </p15:clr>
        </p15:guide>
        <p15:guide id="14" orient="horz" pos="278">
          <p15:clr>
            <a:srgbClr val="F26B43"/>
          </p15:clr>
        </p15:guide>
        <p15:guide id="15" orient="horz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26BA1FC-2AA7-46D3-BA9A-D73D533597CC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46399" y="432533"/>
            <a:ext cx="1744349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184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74" r:id="rId3"/>
    <p:sldLayoutId id="2147483675" r:id="rId4"/>
    <p:sldLayoutId id="2147483679" r:id="rId5"/>
  </p:sldLayoutIdLst>
  <p:hf hdr="0" ftr="0"/>
  <p:txStyles>
    <p:titleStyle>
      <a:lvl1pPr algn="l" defTabSz="815557" rtl="0" eaLnBrk="1" latinLnBrk="0" hangingPunct="1">
        <a:lnSpc>
          <a:spcPct val="90000"/>
        </a:lnSpc>
        <a:spcBef>
          <a:spcPct val="0"/>
        </a:spcBef>
        <a:buNone/>
        <a:defRPr sz="39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3890" indent="-203890" algn="l" defTabSz="815557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2498" kern="1200">
          <a:solidFill>
            <a:schemeClr val="tx1"/>
          </a:solidFill>
          <a:latin typeface="+mn-lt"/>
          <a:ea typeface="+mn-ea"/>
          <a:cs typeface="+mn-cs"/>
        </a:defRPr>
      </a:lvl1pPr>
      <a:lvl2pPr marL="611668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2141" kern="1200">
          <a:solidFill>
            <a:schemeClr val="tx1"/>
          </a:solidFill>
          <a:latin typeface="+mn-lt"/>
          <a:ea typeface="+mn-ea"/>
          <a:cs typeface="+mn-cs"/>
        </a:defRPr>
      </a:lvl2pPr>
      <a:lvl3pPr marL="1019447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784" kern="1200">
          <a:solidFill>
            <a:schemeClr val="tx1"/>
          </a:solidFill>
          <a:latin typeface="+mn-lt"/>
          <a:ea typeface="+mn-ea"/>
          <a:cs typeface="+mn-cs"/>
        </a:defRPr>
      </a:lvl3pPr>
      <a:lvl4pPr marL="1427225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835003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242782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650560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3058339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466117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1pPr>
      <a:lvl2pPr marL="407778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2pPr>
      <a:lvl3pPr marL="815557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3pPr>
      <a:lvl4pPr marL="1223335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631114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038892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446670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2854449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262227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935">
          <p15:clr>
            <a:srgbClr val="F26B43"/>
          </p15:clr>
        </p15:guide>
        <p15:guide id="5" orient="horz" pos="4042">
          <p15:clr>
            <a:srgbClr val="F26B43"/>
          </p15:clr>
        </p15:guide>
        <p15:guide id="9" pos="7401">
          <p15:clr>
            <a:srgbClr val="F26B43"/>
          </p15:clr>
        </p15:guide>
        <p15:guide id="13" pos="279">
          <p15:clr>
            <a:srgbClr val="F26B43"/>
          </p15:clr>
        </p15:guide>
        <p15:guide id="14" orient="horz" pos="278">
          <p15:clr>
            <a:srgbClr val="F26B43"/>
          </p15:clr>
        </p15:guide>
        <p15:guide id="15" orient="horz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8DED63A8-5311-184A-B74C-C37B428BFE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6400" y="442801"/>
            <a:ext cx="1745167" cy="82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104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  <p:hf hdr="0" ftr="0"/>
  <p:txStyles>
    <p:titleStyle>
      <a:lvl1pPr algn="l" defTabSz="815557" rtl="0" eaLnBrk="1" latinLnBrk="0" hangingPunct="1">
        <a:lnSpc>
          <a:spcPct val="90000"/>
        </a:lnSpc>
        <a:spcBef>
          <a:spcPct val="0"/>
        </a:spcBef>
        <a:buNone/>
        <a:defRPr sz="39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3890" indent="-203890" algn="l" defTabSz="815557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2498" kern="1200">
          <a:solidFill>
            <a:schemeClr val="tx1"/>
          </a:solidFill>
          <a:latin typeface="+mn-lt"/>
          <a:ea typeface="+mn-ea"/>
          <a:cs typeface="+mn-cs"/>
        </a:defRPr>
      </a:lvl1pPr>
      <a:lvl2pPr marL="611668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2141" kern="1200">
          <a:solidFill>
            <a:schemeClr val="tx1"/>
          </a:solidFill>
          <a:latin typeface="+mn-lt"/>
          <a:ea typeface="+mn-ea"/>
          <a:cs typeface="+mn-cs"/>
        </a:defRPr>
      </a:lvl2pPr>
      <a:lvl3pPr marL="1019447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784" kern="1200">
          <a:solidFill>
            <a:schemeClr val="tx1"/>
          </a:solidFill>
          <a:latin typeface="+mn-lt"/>
          <a:ea typeface="+mn-ea"/>
          <a:cs typeface="+mn-cs"/>
        </a:defRPr>
      </a:lvl3pPr>
      <a:lvl4pPr marL="1427225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835003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242782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650560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3058339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466117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1pPr>
      <a:lvl2pPr marL="407778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2pPr>
      <a:lvl3pPr marL="815557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3pPr>
      <a:lvl4pPr marL="1223335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631114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038892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446670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2854449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262227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935">
          <p15:clr>
            <a:srgbClr val="F26B43"/>
          </p15:clr>
        </p15:guide>
        <p15:guide id="5" orient="horz" pos="4042">
          <p15:clr>
            <a:srgbClr val="F26B43"/>
          </p15:clr>
        </p15:guide>
        <p15:guide id="9" pos="7401">
          <p15:clr>
            <a:srgbClr val="F26B43"/>
          </p15:clr>
        </p15:guide>
        <p15:guide id="13" pos="279">
          <p15:clr>
            <a:srgbClr val="F26B43"/>
          </p15:clr>
        </p15:guide>
        <p15:guide id="14" orient="horz" pos="278">
          <p15:clr>
            <a:srgbClr val="F26B43"/>
          </p15:clr>
        </p15:guide>
        <p15:guide id="15" orient="horz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0.xml"/></Relationships>
</file>

<file path=ppt/slides/_rels/slide101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0.xml"/></Relationships>
</file>

<file path=ppt/slides/_rels/slide102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0.xml"/></Relationships>
</file>

<file path=ppt/slides/_rels/slide103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0.xml"/></Relationships>
</file>

<file path=ppt/slides/_rels/slide104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0.xml"/></Relationships>
</file>

<file path=ppt/slides/_rels/slide105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0.xml"/></Relationships>
</file>

<file path=ppt/slides/_rels/slide106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0.xml"/></Relationships>
</file>

<file path=ppt/slides/_rels/slide107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0.xml"/></Relationships>
</file>

<file path=ppt/slides/_rels/slide108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0.xml"/></Relationships>
</file>

<file path=ppt/slides/_rels/slide109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0.xml"/></Relationships>
</file>

<file path=ppt/slides/_rels/slide110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0.xml"/></Relationships>
</file>

<file path=ppt/slides/_rels/slide111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0.xml"/></Relationships>
</file>

<file path=ppt/slides/_rels/slide112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0.xml"/></Relationships>
</file>

<file path=ppt/slides/_rels/slide113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0.xml"/></Relationships>
</file>

<file path=ppt/slides/_rels/slide114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0.xml"/></Relationships>
</file>

<file path=ppt/slides/_rels/slide115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0.xml"/></Relationships>
</file>

<file path=ppt/slides/_rels/slide116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0.xml"/></Relationships>
</file>

<file path=ppt/slides/_rels/slide117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0.xml"/></Relationships>
</file>

<file path=ppt/slides/_rels/slide118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0.xml"/></Relationships>
</file>

<file path=ppt/slides/_rels/slide119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0.xml"/></Relationships>
</file>

<file path=ppt/slides/_rels/slide120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0.xml"/></Relationships>
</file>

<file path=ppt/slides/_rels/slide121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0.xml"/></Relationships>
</file>

<file path=ppt/slides/_rels/slide122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0.xml"/></Relationships>
</file>

<file path=ppt/slides/_rels/slide123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0.xml"/></Relationships>
</file>

<file path=ppt/slides/_rels/slide124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0.xml"/></Relationships>
</file>

<file path=ppt/slides/_rels/slide125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0.xml"/></Relationships>
</file>

<file path=ppt/slides/_rels/slide126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0.xml"/></Relationships>
</file>

<file path=ppt/slides/_rels/slide127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0.xml"/></Relationships>
</file>

<file path=ppt/slides/_rels/slide128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0.xml"/></Relationships>
</file>

<file path=ppt/slides/_rels/slide129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0.xml"/></Relationships>
</file>

<file path=ppt/slides/_rels/slide130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0.xml"/></Relationships>
</file>

<file path=ppt/slides/_rels/slide131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7E94FFB-22C0-4C8D-B534-60CDAE7BAB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6400" y="5184000"/>
            <a:ext cx="4509913" cy="1030288"/>
          </a:xfrm>
        </p:spPr>
        <p:txBody>
          <a:bodyPr/>
          <a:lstStyle/>
          <a:p>
            <a:pPr algn="ctr"/>
            <a:r>
              <a:rPr lang="de-DE" dirty="0" err="1">
                <a:latin typeface="Cardo" panose="02020600000000000000" pitchFamily="18" charset="-79"/>
                <a:ea typeface="Cardo" panose="02020600000000000000" pitchFamily="18" charset="-79"/>
                <a:cs typeface="Cardo" panose="02020600000000000000" pitchFamily="18" charset="-79"/>
              </a:rPr>
              <a:t>WiSe</a:t>
            </a:r>
            <a:r>
              <a:rPr lang="de-DE" dirty="0">
                <a:latin typeface="Cardo" panose="02020600000000000000" pitchFamily="18" charset="-79"/>
                <a:ea typeface="Cardo" panose="02020600000000000000" pitchFamily="18" charset="-79"/>
                <a:cs typeface="Cardo" panose="02020600000000000000" pitchFamily="18" charset="-79"/>
              </a:rPr>
              <a:t> 2026/2027</a:t>
            </a:r>
            <a:endParaRPr lang="de-DE" sz="1200" dirty="0">
              <a:latin typeface="Cardo" panose="02020600000000000000" pitchFamily="18" charset="-79"/>
              <a:ea typeface="Cardo" panose="02020600000000000000" pitchFamily="18" charset="-79"/>
              <a:cs typeface="Cardo" panose="02020600000000000000" pitchFamily="18" charset="-79"/>
            </a:endParaRP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1129D428-4FEB-4F8A-8801-5E786B49D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36" y="2850000"/>
            <a:ext cx="5278164" cy="1500000"/>
          </a:xfrm>
        </p:spPr>
        <p:txBody>
          <a:bodyPr/>
          <a:lstStyle/>
          <a:p>
            <a:pPr algn="ctr"/>
            <a:r>
              <a:rPr lang="de-DE" sz="3000" dirty="0">
                <a:latin typeface="Cardo" panose="02020600000000000000" pitchFamily="18" charset="-79"/>
                <a:ea typeface="Cardo" panose="02020600000000000000" pitchFamily="18" charset="-79"/>
                <a:cs typeface="Cardo" panose="02020600000000000000" pitchFamily="18" charset="-79"/>
              </a:rPr>
              <a:t>Digitale Methoden in der Assyriologie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E5867BD1-A045-4858-8F85-9697EDF959FE}"/>
              </a:ext>
            </a:extLst>
          </p:cNvPr>
          <p:cNvSpPr txBox="1"/>
          <p:nvPr/>
        </p:nvSpPr>
        <p:spPr>
          <a:xfrm>
            <a:off x="2330450" y="1005126"/>
            <a:ext cx="3257550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900" b="1" cap="all" dirty="0">
                <a:latin typeface="Cardo" panose="02020600000000000000" pitchFamily="18" charset="-79"/>
                <a:ea typeface="Cardo" panose="02020600000000000000" pitchFamily="18" charset="-79"/>
                <a:cs typeface="Cardo" panose="02020600000000000000" pitchFamily="18" charset="-79"/>
              </a:rPr>
              <a:t>Enrique Jiménez</a:t>
            </a:r>
            <a:endParaRPr lang="en-US" sz="900" b="1" cap="all" dirty="0">
              <a:latin typeface="Cardo" panose="02020600000000000000" pitchFamily="18" charset="-79"/>
              <a:ea typeface="Cardo" panose="02020600000000000000" pitchFamily="18" charset="-79"/>
              <a:cs typeface="Cardo" panose="02020600000000000000" pitchFamily="18" charset="-79"/>
            </a:endParaRPr>
          </a:p>
        </p:txBody>
      </p:sp>
      <p:pic>
        <p:nvPicPr>
          <p:cNvPr id="6" name="Picture 12" descr="Logo, company name&#10;&#10;Description automatically generated">
            <a:extLst>
              <a:ext uri="{FF2B5EF4-FFF2-40B4-BE49-F238E27FC236}">
                <a16:creationId xmlns:a16="http://schemas.microsoft.com/office/drawing/2014/main" id="{03F1EA1F-99EF-4D6A-9A53-2D2CD5C99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1750" y="179066"/>
            <a:ext cx="1395733" cy="1395733"/>
          </a:xfrm>
          <a:prstGeom prst="rect">
            <a:avLst/>
          </a:prstGeom>
        </p:spPr>
      </p:pic>
      <p:sp>
        <p:nvSpPr>
          <p:cNvPr id="7" name="TextBox 14">
            <a:extLst>
              <a:ext uri="{FF2B5EF4-FFF2-40B4-BE49-F238E27FC236}">
                <a16:creationId xmlns:a16="http://schemas.microsoft.com/office/drawing/2014/main" id="{F73CCFA0-077E-4E97-90D4-9429C545EC3A}"/>
              </a:ext>
            </a:extLst>
          </p:cNvPr>
          <p:cNvSpPr txBox="1"/>
          <p:nvPr/>
        </p:nvSpPr>
        <p:spPr>
          <a:xfrm>
            <a:off x="2330450" y="643712"/>
            <a:ext cx="273685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s-ES" sz="700" b="1" cap="all" dirty="0" err="1">
                <a:latin typeface="Cardo" panose="02020600000000000000" pitchFamily="18" charset="-79"/>
                <a:ea typeface="Cardo" panose="02020600000000000000" pitchFamily="18" charset="-79"/>
                <a:cs typeface="Cardo" panose="02020600000000000000" pitchFamily="18" charset="-79"/>
              </a:rPr>
              <a:t>Fakultät</a:t>
            </a:r>
            <a:r>
              <a:rPr lang="es-ES" sz="700" b="1" cap="all" dirty="0">
                <a:latin typeface="Cardo" panose="02020600000000000000" pitchFamily="18" charset="-79"/>
                <a:ea typeface="Cardo" panose="02020600000000000000" pitchFamily="18" charset="-79"/>
                <a:cs typeface="Cardo" panose="02020600000000000000" pitchFamily="18" charset="-79"/>
              </a:rPr>
              <a:t> </a:t>
            </a:r>
            <a:r>
              <a:rPr lang="es-ES" sz="700" b="1" cap="all" dirty="0" err="1">
                <a:latin typeface="Cardo" panose="02020600000000000000" pitchFamily="18" charset="-79"/>
                <a:ea typeface="Cardo" panose="02020600000000000000" pitchFamily="18" charset="-79"/>
                <a:cs typeface="Cardo" panose="02020600000000000000" pitchFamily="18" charset="-79"/>
              </a:rPr>
              <a:t>für</a:t>
            </a:r>
            <a:r>
              <a:rPr lang="es-ES" sz="700" b="1" cap="all" dirty="0">
                <a:latin typeface="Cardo" panose="02020600000000000000" pitchFamily="18" charset="-79"/>
                <a:ea typeface="Cardo" panose="02020600000000000000" pitchFamily="18" charset="-79"/>
                <a:cs typeface="Cardo" panose="02020600000000000000" pitchFamily="18" charset="-79"/>
              </a:rPr>
              <a:t> </a:t>
            </a:r>
            <a:r>
              <a:rPr lang="es-ES" sz="700" b="1" cap="all" dirty="0" err="1">
                <a:latin typeface="Cardo" panose="02020600000000000000" pitchFamily="18" charset="-79"/>
                <a:ea typeface="Cardo" panose="02020600000000000000" pitchFamily="18" charset="-79"/>
                <a:cs typeface="Cardo" panose="02020600000000000000" pitchFamily="18" charset="-79"/>
              </a:rPr>
              <a:t>kulturwissenschaften</a:t>
            </a:r>
            <a:endParaRPr lang="es-ES" sz="700" b="1" cap="all" dirty="0">
              <a:latin typeface="Cardo" panose="02020600000000000000" pitchFamily="18" charset="-79"/>
              <a:ea typeface="Cardo" panose="02020600000000000000" pitchFamily="18" charset="-79"/>
              <a:cs typeface="Cardo" panose="02020600000000000000" pitchFamily="18" charset="-79"/>
            </a:endParaRPr>
          </a:p>
          <a:p>
            <a:pPr>
              <a:spcAft>
                <a:spcPts val="300"/>
              </a:spcAft>
            </a:pPr>
            <a:r>
              <a:rPr lang="es-ES" sz="700" b="1" cap="all" dirty="0" err="1">
                <a:latin typeface="Cardo" panose="02020600000000000000" pitchFamily="18" charset="-79"/>
                <a:ea typeface="Cardo" panose="02020600000000000000" pitchFamily="18" charset="-79"/>
                <a:cs typeface="Cardo" panose="02020600000000000000" pitchFamily="18" charset="-79"/>
              </a:rPr>
              <a:t>Institut</a:t>
            </a:r>
            <a:r>
              <a:rPr lang="es-ES" sz="700" b="1" cap="all" dirty="0">
                <a:latin typeface="Cardo" panose="02020600000000000000" pitchFamily="18" charset="-79"/>
                <a:ea typeface="Cardo" panose="02020600000000000000" pitchFamily="18" charset="-79"/>
                <a:cs typeface="Cardo" panose="02020600000000000000" pitchFamily="18" charset="-79"/>
              </a:rPr>
              <a:t> </a:t>
            </a:r>
            <a:r>
              <a:rPr lang="es-ES" sz="700" b="1" cap="all" dirty="0" err="1">
                <a:latin typeface="Cardo" panose="02020600000000000000" pitchFamily="18" charset="-79"/>
                <a:ea typeface="Cardo" panose="02020600000000000000" pitchFamily="18" charset="-79"/>
                <a:cs typeface="Cardo" panose="02020600000000000000" pitchFamily="18" charset="-79"/>
              </a:rPr>
              <a:t>für</a:t>
            </a:r>
            <a:r>
              <a:rPr lang="es-ES" sz="700" b="1" cap="all" dirty="0">
                <a:latin typeface="Cardo" panose="02020600000000000000" pitchFamily="18" charset="-79"/>
                <a:ea typeface="Cardo" panose="02020600000000000000" pitchFamily="18" charset="-79"/>
                <a:cs typeface="Cardo" panose="02020600000000000000" pitchFamily="18" charset="-79"/>
              </a:rPr>
              <a:t> </a:t>
            </a:r>
            <a:r>
              <a:rPr lang="es-ES" sz="700" b="1" cap="all" dirty="0" err="1">
                <a:latin typeface="Cardo" panose="02020600000000000000" pitchFamily="18" charset="-79"/>
                <a:ea typeface="Cardo" panose="02020600000000000000" pitchFamily="18" charset="-79"/>
                <a:cs typeface="Cardo" panose="02020600000000000000" pitchFamily="18" charset="-79"/>
              </a:rPr>
              <a:t>assyriologie</a:t>
            </a:r>
            <a:r>
              <a:rPr lang="es-ES" sz="700" b="1" cap="all" dirty="0">
                <a:latin typeface="Cardo" panose="02020600000000000000" pitchFamily="18" charset="-79"/>
                <a:ea typeface="Cardo" panose="02020600000000000000" pitchFamily="18" charset="-79"/>
                <a:cs typeface="Cardo" panose="02020600000000000000" pitchFamily="18" charset="-79"/>
              </a:rPr>
              <a:t> </a:t>
            </a:r>
            <a:r>
              <a:rPr lang="es-ES" sz="700" b="1" cap="all" dirty="0" err="1">
                <a:latin typeface="Cardo" panose="02020600000000000000" pitchFamily="18" charset="-79"/>
                <a:ea typeface="Cardo" panose="02020600000000000000" pitchFamily="18" charset="-79"/>
                <a:cs typeface="Cardo" panose="02020600000000000000" pitchFamily="18" charset="-79"/>
              </a:rPr>
              <a:t>und</a:t>
            </a:r>
            <a:r>
              <a:rPr lang="es-ES" sz="700" b="1" cap="all" dirty="0">
                <a:latin typeface="Cardo" panose="02020600000000000000" pitchFamily="18" charset="-79"/>
                <a:ea typeface="Cardo" panose="02020600000000000000" pitchFamily="18" charset="-79"/>
                <a:cs typeface="Cardo" panose="02020600000000000000" pitchFamily="18" charset="-79"/>
              </a:rPr>
              <a:t> </a:t>
            </a:r>
            <a:r>
              <a:rPr lang="es-ES" sz="700" b="1" cap="all" dirty="0" err="1">
                <a:latin typeface="Cardo" panose="02020600000000000000" pitchFamily="18" charset="-79"/>
                <a:ea typeface="Cardo" panose="02020600000000000000" pitchFamily="18" charset="-79"/>
                <a:cs typeface="Cardo" panose="02020600000000000000" pitchFamily="18" charset="-79"/>
              </a:rPr>
              <a:t>hethitologie</a:t>
            </a:r>
            <a:endParaRPr lang="es-ES" sz="700" b="1" cap="all" dirty="0">
              <a:latin typeface="Cardo" panose="02020600000000000000" pitchFamily="18" charset="-79"/>
              <a:ea typeface="Cardo" panose="02020600000000000000" pitchFamily="18" charset="-79"/>
              <a:cs typeface="Cardo" panose="02020600000000000000" pitchFamily="18" charset="-79"/>
            </a:endParaRPr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145F8095-D626-47CE-A68D-1DE604DBA281}"/>
              </a:ext>
            </a:extLst>
          </p:cNvPr>
          <p:cNvSpPr/>
          <p:nvPr/>
        </p:nvSpPr>
        <p:spPr>
          <a:xfrm>
            <a:off x="119336" y="104775"/>
            <a:ext cx="11953328" cy="664845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Cardo" panose="02020600000000000000" pitchFamily="18" charset="-79"/>
              <a:ea typeface="Cardo" panose="02020600000000000000" pitchFamily="18" charset="-79"/>
              <a:cs typeface="Cardo" panose="02020600000000000000" pitchFamily="18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6173814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74C617B9-025D-434A-9329-475080415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fld id="{3889EAAA-2A39-E347-B0AA-909793490C00}" type="slidenum">
              <a:rPr lang="de-DE" smtClean="0"/>
              <a:pPr algn="l"/>
              <a:t>2</a:t>
            </a:fld>
            <a:endParaRPr lang="de-DE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864EB9-2EA0-4164-97DA-8B05DD8A7677}"/>
              </a:ext>
            </a:extLst>
          </p:cNvPr>
          <p:cNvSpPr/>
          <p:nvPr/>
        </p:nvSpPr>
        <p:spPr>
          <a:xfrm>
            <a:off x="119336" y="104775"/>
            <a:ext cx="11953328" cy="664845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00000" y="480000"/>
            <a:ext cx="7600000" cy="950000"/>
          </a:xfrm>
        </p:spPr>
        <p:txBody>
          <a:bodyPr anchor="ctr"/>
          <a:lstStyle/>
          <a:p>
            <a:pPr algn="ctr"/>
            <a:r>
              <a:rPr sz="2800">
                <a:solidFill>
                  <a:srgbClr val="232323"/>
                </a:solidFill>
                <a:latin typeface="Cardo"/>
                <a:ea typeface="Cardo"/>
                <a:cs typeface="Cardo"/>
              </a:rPr>
              <a:t>Organisation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7999" y="1764000"/>
            <a:ext cx="101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5 Sitzungen: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16.10., 30.10., 13.11., 11.12.2026, 15.01.2027 (Fr. 9–13)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Heute: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Einführung in Python, reguläre Ausdrücke und APIs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Ab dem 30.10.: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je zwei Teilnehmende leiten die Sitzung: was sie gemacht haben, wo sie Hilfe brauchen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Danach: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das Modul, überarbeitet nach den Rückmeldungen, ins Repositorium auf GitHub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Leistungsnachweis: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Programmcode und Beitrag zum gemeinsamen Aufsatz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Laptop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zu jeder Sitzung mitbringen</a:t>
            </a:r>
            <a:endParaRPr lang="de-DE" sz="20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74C617B9-025D-434A-9329-475080415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fld id="{3889EAAA-2A39-E347-B0AA-909793490C00}" type="slidenum">
              <a:rPr lang="de-DE" smtClean="0"/>
              <a:pPr algn="l"/>
              <a:t>2</a:t>
            </a:fld>
            <a:endParaRPr lang="de-DE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864EB9-2EA0-4164-97DA-8B05DD8A7677}"/>
              </a:ext>
            </a:extLst>
          </p:cNvPr>
          <p:cNvSpPr/>
          <p:nvPr/>
        </p:nvSpPr>
        <p:spPr>
          <a:xfrm>
            <a:off x="119336" y="104775"/>
            <a:ext cx="11953328" cy="664845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00000" y="480000"/>
            <a:ext cx="7600000" cy="950000"/>
          </a:xfrm>
        </p:spPr>
        <p:txBody>
          <a:bodyPr anchor="ctr"/>
          <a:lstStyle/>
          <a:p>
            <a:pPr algn="ctr"/>
            <a:r>
              <a:rPr sz="2800">
                <a:solidFill>
                  <a:srgbClr val="232323"/>
                </a:solidFill>
                <a:latin typeface="Cardo"/>
                <a:ea typeface="Cardo"/>
                <a:cs typeface="Cardo"/>
              </a:rPr>
              <a:t>Heute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7999" y="1764000"/>
            <a:ext cx="101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457200" indent="-457200" algn="l">
              <a:spcAft>
                <a:spcPts val="1400"/>
              </a:spcAft>
              <a:buFont typeface="+mj-lt"/>
              <a:buAutoNum type="arabicPeriod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Einrichtung: Python und Visual Studio Code</a:t>
            </a:r>
            <a:endParaRPr lang="de-DE" sz="2000" dirty="0"/>
          </a:p>
          <a:p>
            <a:pPr marL="457200" indent="-457200" algn="l">
              <a:spcAft>
                <a:spcPts val="1400"/>
              </a:spcAft>
              <a:buFont typeface="+mj-lt"/>
              <a:buAutoNum type="arabicPeriod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Python I: Werte, Variablen, Listen</a:t>
            </a:r>
            <a:endParaRPr lang="de-DE" sz="2000" dirty="0"/>
          </a:p>
          <a:p>
            <a:pPr marL="457200" indent="-457200" algn="l">
              <a:spcAft>
                <a:spcPts val="1400"/>
              </a:spcAft>
              <a:buFont typeface="+mj-lt"/>
              <a:buAutoNum type="arabicPeriod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Python II: Funktionen, Schleifen, Fehler</a:t>
            </a:r>
            <a:endParaRPr lang="de-DE" sz="2000" dirty="0"/>
          </a:p>
          <a:p>
            <a:pPr marL="457200" indent="-457200" algn="l">
              <a:spcAft>
                <a:spcPts val="1400"/>
              </a:spcAft>
              <a:buFont typeface="+mj-lt"/>
              <a:buAutoNum type="arabicPeriod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Reguläre Ausdrücke</a:t>
            </a:r>
            <a:endParaRPr lang="de-DE" sz="2000" dirty="0"/>
          </a:p>
          <a:p>
            <a:pPr marL="457200" indent="-457200" algn="l">
              <a:spcAft>
                <a:spcPts val="1400"/>
              </a:spcAft>
              <a:buFont typeface="+mj-lt"/>
              <a:buAutoNum type="arabicPeriod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APIs und GitHub</a:t>
            </a:r>
            <a:endParaRPr lang="de-DE" sz="2000" dirty="0"/>
          </a:p>
          <a:p>
            <a:pPr marL="457200" indent="-457200" algn="l">
              <a:spcAft>
                <a:spcPts val="1400"/>
              </a:spcAft>
              <a:buFont typeface="+mj-lt"/>
              <a:buAutoNum type="arabicPeriod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Literatur finden</a:t>
            </a:r>
            <a:endParaRPr lang="de-DE" sz="2000" dirty="0"/>
          </a:p>
          <a:p>
            <a:pPr marL="457200" indent="-457200" algn="l">
              <a:spcAft>
                <a:spcPts val="1400"/>
              </a:spcAft>
              <a:buFont typeface="+mj-lt"/>
              <a:buAutoNum type="arabicPeriod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Ein erstes Programm</a:t>
            </a:r>
            <a:endParaRPr lang="de-DE" sz="2000" dirty="0"/>
          </a:p>
        </p:txBody>
      </p:sp>
      <p:sp>
        <p:nvSpPr>
          <p:cNvPr id="7" name="TextBox 7"/>
          <p:cNvSpPr txBox="1"/>
          <p:nvPr/>
        </p:nvSpPr>
        <p:spPr>
          <a:xfrm>
            <a:off x="1007999" y="5400000"/>
            <a:ext cx="101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spcAft>
                <a:spcPts val="140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Auf jeden Block folgt eine kurze Übung.</a:t>
            </a:r>
            <a:endParaRPr lang="de-DE" sz="20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74C617B9-025D-434A-9329-475080415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fld id="{3889EAAA-2A39-E347-B0AA-909793490C00}" type="slidenum">
              <a:rPr lang="de-DE" smtClean="0"/>
              <a:pPr algn="l"/>
              <a:t>2</a:t>
            </a:fld>
            <a:endParaRPr lang="de-DE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864EB9-2EA0-4164-97DA-8B05DD8A7677}"/>
              </a:ext>
            </a:extLst>
          </p:cNvPr>
          <p:cNvSpPr/>
          <p:nvPr/>
        </p:nvSpPr>
        <p:spPr>
          <a:xfrm>
            <a:off x="119336" y="104775"/>
            <a:ext cx="11953328" cy="664845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00000" y="480000"/>
            <a:ext cx="7600000" cy="950000"/>
          </a:xfrm>
        </p:spPr>
        <p:txBody>
          <a:bodyPr anchor="ctr"/>
          <a:lstStyle/>
          <a:p>
            <a:pPr algn="ctr"/>
            <a:r>
              <a:rPr sz="2800">
                <a:solidFill>
                  <a:srgbClr val="232323"/>
                </a:solidFill>
                <a:latin typeface="Cardo"/>
                <a:ea typeface="Cardo"/>
                <a:cs typeface="Cardo"/>
              </a:rPr>
              <a:t>Eine Parallele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0000" y="1655999"/>
            <a:ext cx="10044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lang="de-DE" sz="2200" i="1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ina ḫīṭi maḫrî</a:t>
            </a:r>
            <a:endParaRPr lang="de-DE" sz="22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de-DE" sz="22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„in der früheren Plage“</a:t>
            </a:r>
            <a:endParaRPr lang="de-DE" sz="2200" dirty="0"/>
          </a:p>
        </p:txBody>
      </p:sp>
      <p:sp>
        <p:nvSpPr>
          <p:cNvPr id="7" name="TextBox 7"/>
          <p:cNvSpPr txBox="1"/>
          <p:nvPr/>
        </p:nvSpPr>
        <p:spPr>
          <a:xfrm>
            <a:off x="1080000" y="2520000"/>
            <a:ext cx="10044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spcAft>
                <a:spcPts val="1400"/>
              </a:spcAft>
              <a:buNone/>
            </a:pPr>
            <a:r>
              <a:rPr lang="de-DE" sz="16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Erra V 6</a:t>
            </a:r>
            <a:endParaRPr lang="de-DE" sz="1600" dirty="0"/>
          </a:p>
        </p:txBody>
      </p:sp>
      <p:sp>
        <p:nvSpPr>
          <p:cNvPr id="8" name="TextBox 8"/>
          <p:cNvSpPr txBox="1"/>
          <p:nvPr/>
        </p:nvSpPr>
        <p:spPr>
          <a:xfrm>
            <a:off x="1080000" y="3096000"/>
            <a:ext cx="10044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lang="de-DE" sz="2200" i="1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arki ḫiṭâtēšu maḫrâte</a:t>
            </a:r>
            <a:endParaRPr lang="de-DE" sz="22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de-DE" sz="22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„nach seinen früheren Vergehen“</a:t>
            </a:r>
            <a:endParaRPr lang="de-DE" sz="2200" dirty="0"/>
          </a:p>
        </p:txBody>
      </p:sp>
      <p:sp>
        <p:nvSpPr>
          <p:cNvPr id="9" name="TextBox 9"/>
          <p:cNvSpPr txBox="1"/>
          <p:nvPr/>
        </p:nvSpPr>
        <p:spPr>
          <a:xfrm>
            <a:off x="1080000" y="3960000"/>
            <a:ext cx="10044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spcAft>
                <a:spcPts val="1400"/>
              </a:spcAft>
              <a:buNone/>
            </a:pPr>
            <a:r>
              <a:rPr lang="de-DE" sz="16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Sargon II., achter Feldzug, Z. 95</a:t>
            </a:r>
            <a:endParaRPr lang="de-DE" sz="1600" dirty="0"/>
          </a:p>
        </p:txBody>
      </p:sp>
      <p:sp>
        <p:nvSpPr>
          <p:cNvPr id="10" name="TextBox 10"/>
          <p:cNvSpPr txBox="1"/>
          <p:nvPr/>
        </p:nvSpPr>
        <p:spPr>
          <a:xfrm>
            <a:off x="1080000" y="4680000"/>
            <a:ext cx="10044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spcAft>
                <a:spcPts val="140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eBL: ca. 370.000 edierte Zeilen; dazu Oracc</a:t>
            </a:r>
            <a:endParaRPr lang="de-DE" sz="2000" dirty="0"/>
          </a:p>
        </p:txBody>
      </p:sp>
      <p:sp>
        <p:nvSpPr>
          <p:cNvPr id="11" name="Quelle 11"/>
          <p:cNvSpPr txBox="1"/>
          <p:nvPr/>
        </p:nvSpPr>
        <p:spPr>
          <a:xfrm>
            <a:off x="4284000" y="5616000"/>
            <a:ext cx="7163999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de-DE" sz="14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Cagni 1969, 248</a:t>
            </a:r>
            <a:endParaRPr lang="de-DE" sz="14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74C617B9-025D-434A-9329-475080415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fld id="{3889EAAA-2A39-E347-B0AA-909793490C00}" type="slidenum">
              <a:rPr lang="de-DE" smtClean="0"/>
              <a:pPr algn="l"/>
              <a:t>2</a:t>
            </a:fld>
            <a:endParaRPr lang="de-DE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864EB9-2EA0-4164-97DA-8B05DD8A7677}"/>
              </a:ext>
            </a:extLst>
          </p:cNvPr>
          <p:cNvSpPr/>
          <p:nvPr/>
        </p:nvSpPr>
        <p:spPr>
          <a:xfrm>
            <a:off x="119336" y="104775"/>
            <a:ext cx="11953328" cy="664845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00000" y="480000"/>
            <a:ext cx="7600000" cy="950000"/>
          </a:xfrm>
        </p:spPr>
        <p:txBody>
          <a:bodyPr anchor="ctr"/>
          <a:lstStyle/>
          <a:p>
            <a:pPr algn="ctr"/>
            <a:r>
              <a:rPr sz="2800">
                <a:solidFill>
                  <a:srgbClr val="232323"/>
                </a:solidFill>
                <a:latin typeface="Cardo"/>
                <a:ea typeface="Cardo"/>
                <a:cs typeface="Cardo"/>
              </a:rPr>
              <a:t>Der Beispieltext</a:t>
            </a:r>
          </a:p>
        </p:txBody>
      </p:sp>
      <p:sp>
        <p:nvSpPr>
          <p:cNvPr id="6" name="Code 6"/>
          <p:cNvSpPr txBox="1"/>
          <p:nvPr/>
        </p:nvSpPr>
        <p:spPr>
          <a:xfrm>
            <a:off x="1440000" y="1655999"/>
            <a:ext cx="93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1  e-nu-ma e-liš la na-bu-u₂ ša₂-[ma-mu]</a:t>
            </a:r>
            <a:endParaRPr lang="de-DE" sz="20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2  [ša]p-liš am#-ma#-[tu₄ š]u-ma la zak-ra-at</a:t>
            </a:r>
            <a:endParaRPr lang="de-DE" sz="20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3  ABZU-ma reš#-tu-u₂ za-ru-šu-un</a:t>
            </a:r>
            <a:endParaRPr lang="de-DE" sz="20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4  mu-um-mu ti#-amtu mu-al-li-da-at gim-ri-šu₂-un</a:t>
            </a:r>
            <a:endParaRPr lang="de-DE" sz="2000" dirty="0"/>
          </a:p>
        </p:txBody>
      </p:sp>
      <p:sp>
        <p:nvSpPr>
          <p:cNvPr id="7" name="TextBox 7"/>
          <p:cNvSpPr txBox="1"/>
          <p:nvPr/>
        </p:nvSpPr>
        <p:spPr>
          <a:xfrm>
            <a:off x="1007999" y="3528000"/>
            <a:ext cx="101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eBL-ATF: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#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beschädigt,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[ ]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ergänzt, Großbuchstaben: Logogramm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Indexziffern als ₂, ₃, ₄: </a:t>
            </a:r>
            <a:r>
              <a:rPr lang="de-DE" sz="2000" i="1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ú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=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u₂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, </a:t>
            </a:r>
            <a:r>
              <a:rPr lang="de-DE" sz="2000" i="1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šá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=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ša₂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, </a:t>
            </a:r>
            <a:r>
              <a:rPr lang="de-DE" sz="2000" i="1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šú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=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šu₂</a:t>
            </a:r>
            <a:endParaRPr lang="de-DE" sz="2000" dirty="0"/>
          </a:p>
        </p:txBody>
      </p:sp>
      <p:sp>
        <p:nvSpPr>
          <p:cNvPr id="8" name="Quelle 8"/>
          <p:cNvSpPr txBox="1"/>
          <p:nvPr/>
        </p:nvSpPr>
        <p:spPr>
          <a:xfrm>
            <a:off x="4284000" y="5616000"/>
            <a:ext cx="7163999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de-DE" sz="14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Enūma eliš I 1–4</a:t>
            </a:r>
            <a:endParaRPr lang="de-DE" sz="14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74C617B9-025D-434A-9329-475080415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fld id="{3889EAAA-2A39-E347-B0AA-909793490C00}" type="slidenum">
              <a:rPr lang="de-DE" smtClean="0"/>
              <a:pPr algn="l"/>
              <a:t>2</a:t>
            </a:fld>
            <a:endParaRPr lang="de-DE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864EB9-2EA0-4164-97DA-8B05DD8A7677}"/>
              </a:ext>
            </a:extLst>
          </p:cNvPr>
          <p:cNvSpPr/>
          <p:nvPr/>
        </p:nvSpPr>
        <p:spPr>
          <a:xfrm>
            <a:off x="119336" y="104775"/>
            <a:ext cx="11953328" cy="664845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00000" y="480000"/>
            <a:ext cx="7600000" cy="950000"/>
          </a:xfrm>
        </p:spPr>
        <p:txBody>
          <a:bodyPr anchor="ctr"/>
          <a:lstStyle/>
          <a:p>
            <a:pPr algn="ctr"/>
            <a:r>
              <a:rPr sz="2800">
                <a:solidFill>
                  <a:srgbClr val="232323"/>
                </a:solidFill>
                <a:latin typeface="Cardo"/>
                <a:ea typeface="Cardo"/>
                <a:cs typeface="Cardo"/>
              </a:rPr>
              <a:t>Übung 1: Einrichtung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7999" y="1764000"/>
            <a:ext cx="101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457200" indent="-457200" algn="l">
              <a:spcAft>
                <a:spcPts val="1400"/>
              </a:spcAft>
              <a:buFont typeface="+mj-lt"/>
              <a:buAutoNum type="arabicPeriod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Python installieren: python.org/downloads (unter Windows „Add python.exe to PATH“ ankreuzen)</a:t>
            </a:r>
            <a:endParaRPr lang="de-DE" sz="2000" dirty="0"/>
          </a:p>
          <a:p>
            <a:pPr marL="457200" indent="-457200" algn="l">
              <a:spcAft>
                <a:spcPts val="1400"/>
              </a:spcAft>
              <a:buFont typeface="+mj-lt"/>
              <a:buAutoNum type="arabicPeriod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Visual Studio Code installieren: code.visualstudio.com; dazu die Erweiterung „Python“ (Microsoft)</a:t>
            </a:r>
            <a:endParaRPr lang="de-DE" sz="2000" dirty="0"/>
          </a:p>
          <a:p>
            <a:pPr marL="457200" indent="-457200" algn="l">
              <a:spcAft>
                <a:spcPts val="1400"/>
              </a:spcAft>
              <a:buFont typeface="+mj-lt"/>
              <a:buAutoNum type="arabicPeriod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Einen Ordner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seminar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anlegen und in VS Code öffnen (Datei → Ordner öffnen)</a:t>
            </a:r>
            <a:endParaRPr lang="de-DE" sz="2000" dirty="0"/>
          </a:p>
          <a:p>
            <a:pPr marL="457200" indent="-457200" algn="l">
              <a:spcAft>
                <a:spcPts val="1400"/>
              </a:spcAft>
              <a:buFont typeface="+mj-lt"/>
              <a:buAutoNum type="arabicPeriod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Darin eine Datei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test.py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mit einer Zeile anlegen und mit ▷ ausführen:</a:t>
            </a:r>
            <a:endParaRPr lang="de-DE" sz="2000" dirty="0"/>
          </a:p>
        </p:txBody>
      </p:sp>
      <p:sp>
        <p:nvSpPr>
          <p:cNvPr id="7" name="Code 7"/>
          <p:cNvSpPr txBox="1"/>
          <p:nvPr/>
        </p:nvSpPr>
        <p:spPr>
          <a:xfrm>
            <a:off x="2880000" y="4320000"/>
            <a:ext cx="648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print("e-nu-ma e-liš la na-bu-u₂")</a:t>
            </a:r>
            <a:endParaRPr lang="de-DE" sz="2000" dirty="0"/>
          </a:p>
        </p:txBody>
      </p:sp>
      <p:sp>
        <p:nvSpPr>
          <p:cNvPr id="8" name="TextBox 8"/>
          <p:cNvSpPr txBox="1"/>
          <p:nvPr/>
        </p:nvSpPr>
        <p:spPr>
          <a:xfrm>
            <a:off x="1007999" y="5040000"/>
            <a:ext cx="101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spcAft>
                <a:spcPts val="140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Wenn nichts hilft: GitHub Codespaces (VS Code im Browser)</a:t>
            </a:r>
            <a:endParaRPr lang="de-DE" sz="18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74C617B9-025D-434A-9329-475080415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fld id="{3889EAAA-2A39-E347-B0AA-909793490C00}" type="slidenum">
              <a:rPr lang="de-DE" smtClean="0"/>
              <a:pPr algn="l"/>
              <a:t>2</a:t>
            </a:fld>
            <a:endParaRPr lang="de-DE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864EB9-2EA0-4164-97DA-8B05DD8A7677}"/>
              </a:ext>
            </a:extLst>
          </p:cNvPr>
          <p:cNvSpPr/>
          <p:nvPr/>
        </p:nvSpPr>
        <p:spPr>
          <a:xfrm>
            <a:off x="119336" y="104775"/>
            <a:ext cx="11953328" cy="664845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00000" y="480000"/>
            <a:ext cx="7600000" cy="950000"/>
          </a:xfrm>
        </p:spPr>
        <p:txBody>
          <a:bodyPr anchor="ctr"/>
          <a:lstStyle/>
          <a:p>
            <a:pPr algn="ctr"/>
            <a:r>
              <a:rPr sz="2800">
                <a:solidFill>
                  <a:srgbClr val="232323"/>
                </a:solidFill>
                <a:latin typeface="Cardo"/>
                <a:ea typeface="Cardo"/>
                <a:cs typeface="Cardo"/>
              </a:rPr>
              <a:t>Was ist ein Programm?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7999" y="1764000"/>
            <a:ext cx="101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Eine Folge von Anweisungen, so genau, dass eine Maschine sie ohne Rückfrage ausführen kann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Python: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eine Programmiersprache; der Interpreter führt das Programm Zeile für Zeile aus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Quelltext: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eine Textdatei mit der Endung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.py</a:t>
            </a:r>
            <a:endParaRPr lang="de-DE" sz="2000" dirty="0"/>
          </a:p>
        </p:txBody>
      </p:sp>
      <p:sp>
        <p:nvSpPr>
          <p:cNvPr id="7" name="Code 7"/>
          <p:cNvSpPr txBox="1"/>
          <p:nvPr/>
        </p:nvSpPr>
        <p:spPr>
          <a:xfrm>
            <a:off x="3960000" y="3708000"/>
            <a:ext cx="432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# zeilen.py</a:t>
            </a:r>
            <a:endParaRPr lang="de-DE" sz="20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print("šarru")</a:t>
            </a:r>
            <a:endParaRPr lang="de-DE" sz="2000" dirty="0"/>
          </a:p>
          <a:p>
            <a:pPr marL="0" indent="0" algn="l">
              <a:spcAft>
                <a:spcPts val="0"/>
              </a:spcAft>
              <a:buNone/>
            </a:pPr>
            <a:endParaRPr lang="de-DE" sz="20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→ šarru</a:t>
            </a:r>
            <a:endParaRPr lang="de-DE" sz="20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74C617B9-025D-434A-9329-475080415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fld id="{3889EAAA-2A39-E347-B0AA-909793490C00}" type="slidenum">
              <a:rPr lang="de-DE" smtClean="0"/>
              <a:pPr algn="l"/>
              <a:t>2</a:t>
            </a:fld>
            <a:endParaRPr lang="de-DE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864EB9-2EA0-4164-97DA-8B05DD8A7677}"/>
              </a:ext>
            </a:extLst>
          </p:cNvPr>
          <p:cNvSpPr/>
          <p:nvPr/>
        </p:nvSpPr>
        <p:spPr>
          <a:xfrm>
            <a:off x="119336" y="104775"/>
            <a:ext cx="11953328" cy="664845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00000" y="480000"/>
            <a:ext cx="7600000" cy="950000"/>
          </a:xfrm>
        </p:spPr>
        <p:txBody>
          <a:bodyPr anchor="ctr"/>
          <a:lstStyle/>
          <a:p>
            <a:pPr algn="ctr"/>
            <a:r>
              <a:rPr sz="2800">
                <a:solidFill>
                  <a:srgbClr val="232323"/>
                </a:solidFill>
                <a:latin typeface="Cardo"/>
                <a:ea typeface="Cardo"/>
                <a:cs typeface="Cardo"/>
              </a:rPr>
              <a:t>Variablen</a:t>
            </a:r>
          </a:p>
        </p:txBody>
      </p:sp>
      <p:sp>
        <p:nvSpPr>
          <p:cNvPr id="6" name="Code 6"/>
          <p:cNvSpPr txBox="1"/>
          <p:nvPr/>
        </p:nvSpPr>
        <p:spPr>
          <a:xfrm>
            <a:off x="1440000" y="1655999"/>
            <a:ext cx="93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text = "Enūma eliš"</a:t>
            </a:r>
            <a:endParaRPr lang="de-DE" sz="20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zeile = "e-nu-ma e-liš la na-bu-u₂ ša₂-[ma-mu]"</a:t>
            </a:r>
            <a:endParaRPr lang="de-DE" sz="20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nummer = 1</a:t>
            </a:r>
            <a:endParaRPr lang="de-DE" sz="20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nummer = 2</a:t>
            </a:r>
            <a:endParaRPr lang="de-DE" sz="20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print(nummer)        # → 2</a:t>
            </a:r>
            <a:endParaRPr lang="de-DE" sz="2000" dirty="0"/>
          </a:p>
        </p:txBody>
      </p:sp>
      <p:sp>
        <p:nvSpPr>
          <p:cNvPr id="7" name="TextBox 7"/>
          <p:cNvSpPr txBox="1"/>
          <p:nvPr/>
        </p:nvSpPr>
        <p:spPr>
          <a:xfrm>
            <a:off x="1007999" y="3671999"/>
            <a:ext cx="101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Eine Variable ist ein Name für einen Wert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=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bedeutet „wird zu“, nicht „ist gleich“; es gilt der letzte Wert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Namen: Buchstaben, Ziffern,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_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; keine Leerzeichen, keine Bindestriche;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zeile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≠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Zeile</a:t>
            </a:r>
            <a:endParaRPr lang="de-DE" sz="20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74C617B9-025D-434A-9329-475080415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fld id="{3889EAAA-2A39-E347-B0AA-909793490C00}" type="slidenum">
              <a:rPr lang="de-DE" smtClean="0"/>
              <a:pPr algn="l"/>
              <a:t>2</a:t>
            </a:fld>
            <a:endParaRPr lang="de-DE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864EB9-2EA0-4164-97DA-8B05DD8A7677}"/>
              </a:ext>
            </a:extLst>
          </p:cNvPr>
          <p:cNvSpPr/>
          <p:nvPr/>
        </p:nvSpPr>
        <p:spPr>
          <a:xfrm>
            <a:off x="119336" y="104775"/>
            <a:ext cx="11953328" cy="664845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00000" y="480000"/>
            <a:ext cx="7600000" cy="950000"/>
          </a:xfrm>
        </p:spPr>
        <p:txBody>
          <a:bodyPr anchor="ctr"/>
          <a:lstStyle/>
          <a:p>
            <a:pPr algn="ctr"/>
            <a:r>
              <a:rPr sz="2800">
                <a:solidFill>
                  <a:srgbClr val="232323"/>
                </a:solidFill>
                <a:latin typeface="Cardo"/>
                <a:ea typeface="Cardo"/>
                <a:cs typeface="Cardo"/>
              </a:rPr>
              <a:t>Datentypen</a:t>
            </a:r>
          </a:p>
        </p:txBody>
      </p:sp>
      <p:sp>
        <p:nvSpPr>
          <p:cNvPr id="6" name="Spalte 6"/>
          <p:cNvSpPr txBox="1"/>
          <p:nvPr/>
        </p:nvSpPr>
        <p:spPr>
          <a:xfrm>
            <a:off x="1007999" y="1548000"/>
            <a:ext cx="144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spcAft>
                <a:spcPts val="1100"/>
              </a:spcAft>
              <a:buNone/>
            </a:pPr>
            <a:r>
              <a:rPr lang="de-DE" sz="16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str</a:t>
            </a:r>
            <a:endParaRPr lang="de-DE" sz="1800" dirty="0"/>
          </a:p>
          <a:p>
            <a:pPr marL="0" indent="0" algn="l">
              <a:spcAft>
                <a:spcPts val="1100"/>
              </a:spcAft>
              <a:buNone/>
            </a:pPr>
            <a:r>
              <a:rPr lang="de-DE" sz="16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int</a:t>
            </a:r>
            <a:endParaRPr lang="de-DE" sz="1800" dirty="0"/>
          </a:p>
          <a:p>
            <a:pPr marL="0" indent="0" algn="l">
              <a:spcAft>
                <a:spcPts val="1100"/>
              </a:spcAft>
              <a:buNone/>
            </a:pPr>
            <a:r>
              <a:rPr lang="de-DE" sz="16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float</a:t>
            </a:r>
            <a:endParaRPr lang="de-DE" sz="1800" dirty="0"/>
          </a:p>
          <a:p>
            <a:pPr marL="0" indent="0" algn="l">
              <a:spcAft>
                <a:spcPts val="1100"/>
              </a:spcAft>
              <a:buNone/>
            </a:pPr>
            <a:r>
              <a:rPr lang="de-DE" sz="16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bool</a:t>
            </a:r>
            <a:endParaRPr lang="de-DE" sz="1800" dirty="0"/>
          </a:p>
          <a:p>
            <a:pPr marL="0" indent="0" algn="l">
              <a:spcAft>
                <a:spcPts val="1100"/>
              </a:spcAft>
              <a:buNone/>
            </a:pPr>
            <a:r>
              <a:rPr lang="de-DE" sz="16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list</a:t>
            </a:r>
            <a:endParaRPr lang="de-DE" sz="1800" dirty="0"/>
          </a:p>
          <a:p>
            <a:pPr marL="0" indent="0" algn="l">
              <a:spcAft>
                <a:spcPts val="1100"/>
              </a:spcAft>
              <a:buNone/>
            </a:pPr>
            <a:r>
              <a:rPr lang="de-DE" sz="16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tuple</a:t>
            </a:r>
            <a:endParaRPr lang="de-DE" sz="1800" dirty="0"/>
          </a:p>
          <a:p>
            <a:pPr marL="0" indent="0" algn="l">
              <a:spcAft>
                <a:spcPts val="1100"/>
              </a:spcAft>
              <a:buNone/>
            </a:pPr>
            <a:r>
              <a:rPr lang="de-DE" sz="16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dict</a:t>
            </a:r>
            <a:endParaRPr lang="de-DE" sz="1800" dirty="0"/>
          </a:p>
          <a:p>
            <a:pPr marL="0" indent="0" algn="l">
              <a:spcAft>
                <a:spcPts val="1100"/>
              </a:spcAft>
              <a:buNone/>
            </a:pPr>
            <a:r>
              <a:rPr lang="de-DE" sz="16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set</a:t>
            </a:r>
            <a:endParaRPr lang="de-DE" sz="1800" dirty="0"/>
          </a:p>
        </p:txBody>
      </p:sp>
      <p:sp>
        <p:nvSpPr>
          <p:cNvPr id="7" name="Spalte 7"/>
          <p:cNvSpPr txBox="1"/>
          <p:nvPr/>
        </p:nvSpPr>
        <p:spPr>
          <a:xfrm>
            <a:off x="2448000" y="1548000"/>
            <a:ext cx="39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spcAft>
                <a:spcPts val="1100"/>
              </a:spcAft>
              <a:buNone/>
            </a:pPr>
            <a:r>
              <a:rPr lang="de-DE" sz="16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"e-nu-ma"</a:t>
            </a:r>
            <a:endParaRPr lang="de-DE" sz="1800" dirty="0"/>
          </a:p>
          <a:p>
            <a:pPr marL="0" indent="0" algn="l">
              <a:spcAft>
                <a:spcPts val="1100"/>
              </a:spcAft>
              <a:buNone/>
            </a:pPr>
            <a:r>
              <a:rPr lang="de-DE" sz="16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4</a:t>
            </a:r>
            <a:endParaRPr lang="de-DE" sz="1800" dirty="0"/>
          </a:p>
          <a:p>
            <a:pPr marL="0" indent="0" algn="l">
              <a:spcAft>
                <a:spcPts val="1100"/>
              </a:spcAft>
              <a:buNone/>
            </a:pPr>
            <a:r>
              <a:rPr lang="de-DE" sz="16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0.85</a:t>
            </a:r>
            <a:endParaRPr lang="de-DE" sz="1800" dirty="0"/>
          </a:p>
          <a:p>
            <a:pPr marL="0" indent="0" algn="l">
              <a:spcAft>
                <a:spcPts val="1100"/>
              </a:spcAft>
              <a:buNone/>
            </a:pPr>
            <a:r>
              <a:rPr lang="de-DE" sz="16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True</a:t>
            </a:r>
            <a:r>
              <a:rPr lang="de-DE" sz="18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, </a:t>
            </a:r>
            <a:r>
              <a:rPr lang="de-DE" sz="16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False</a:t>
            </a:r>
            <a:endParaRPr lang="de-DE" sz="1800" dirty="0"/>
          </a:p>
          <a:p>
            <a:pPr marL="0" indent="0" algn="l">
              <a:spcAft>
                <a:spcPts val="1100"/>
              </a:spcAft>
              <a:buNone/>
            </a:pPr>
            <a:r>
              <a:rPr lang="de-DE" sz="16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["e-nu-ma", "e-liš"]</a:t>
            </a:r>
            <a:endParaRPr lang="de-DE" sz="1800" dirty="0"/>
          </a:p>
          <a:p>
            <a:pPr marL="0" indent="0" algn="l">
              <a:spcAft>
                <a:spcPts val="1100"/>
              </a:spcAft>
              <a:buNone/>
            </a:pPr>
            <a:r>
              <a:rPr lang="de-DE" sz="16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("Enūma eliš", "I", 1)</a:t>
            </a:r>
            <a:endParaRPr lang="de-DE" sz="1800" dirty="0"/>
          </a:p>
          <a:p>
            <a:pPr marL="0" indent="0" algn="l">
              <a:spcAft>
                <a:spcPts val="1100"/>
              </a:spcAft>
              <a:buNone/>
            </a:pPr>
            <a:r>
              <a:rPr lang="de-DE" sz="16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{"Enūma eliš": 7}</a:t>
            </a:r>
            <a:endParaRPr lang="de-DE" sz="1800" dirty="0"/>
          </a:p>
          <a:p>
            <a:pPr marL="0" indent="0" algn="l">
              <a:spcAft>
                <a:spcPts val="1100"/>
              </a:spcAft>
              <a:buNone/>
            </a:pPr>
            <a:r>
              <a:rPr lang="de-DE" sz="16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{"šamāmū", "ammatu"}</a:t>
            </a:r>
            <a:endParaRPr lang="de-DE" sz="1800" dirty="0"/>
          </a:p>
        </p:txBody>
      </p:sp>
      <p:sp>
        <p:nvSpPr>
          <p:cNvPr id="8" name="Spalte 8"/>
          <p:cNvSpPr txBox="1"/>
          <p:nvPr/>
        </p:nvSpPr>
        <p:spPr>
          <a:xfrm>
            <a:off x="6408000" y="1548000"/>
            <a:ext cx="39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spcAft>
                <a:spcPts val="110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Zeichenkette (Text)</a:t>
            </a:r>
            <a:endParaRPr lang="de-DE" sz="1800" dirty="0"/>
          </a:p>
          <a:p>
            <a:pPr marL="0" indent="0" algn="l">
              <a:spcAft>
                <a:spcPts val="110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ganze Zahl</a:t>
            </a:r>
            <a:endParaRPr lang="de-DE" sz="1800" dirty="0"/>
          </a:p>
          <a:p>
            <a:pPr marL="0" indent="0" algn="l">
              <a:spcAft>
                <a:spcPts val="110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Dezimalzahl (mit Punkt)</a:t>
            </a:r>
            <a:endParaRPr lang="de-DE" sz="1800" dirty="0"/>
          </a:p>
          <a:p>
            <a:pPr marL="0" indent="0" algn="l">
              <a:spcAft>
                <a:spcPts val="110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wahr oder falsch</a:t>
            </a:r>
            <a:endParaRPr lang="de-DE" sz="1800" dirty="0"/>
          </a:p>
          <a:p>
            <a:pPr marL="0" indent="0" algn="l">
              <a:spcAft>
                <a:spcPts val="110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Liste: geordnet, veränderbar</a:t>
            </a:r>
            <a:endParaRPr lang="de-DE" sz="1800" dirty="0"/>
          </a:p>
          <a:p>
            <a:pPr marL="0" indent="0" algn="l">
              <a:spcAft>
                <a:spcPts val="110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Tupel: geordnet, unveränderlich</a:t>
            </a:r>
            <a:endParaRPr lang="de-DE" sz="1800" dirty="0"/>
          </a:p>
          <a:p>
            <a:pPr marL="0" indent="0" algn="l">
              <a:spcAft>
                <a:spcPts val="110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Wörterbuch: Schlüssel → Wert</a:t>
            </a:r>
            <a:endParaRPr lang="de-DE" sz="1800" dirty="0"/>
          </a:p>
          <a:p>
            <a:pPr marL="0" indent="0" algn="l">
              <a:spcAft>
                <a:spcPts val="110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Menge: ohne Reihenfolge und Doppelte</a:t>
            </a:r>
            <a:endParaRPr lang="de-DE" sz="18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74C617B9-025D-434A-9329-475080415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fld id="{3889EAAA-2A39-E347-B0AA-909793490C00}" type="slidenum">
              <a:rPr lang="de-DE" smtClean="0"/>
              <a:pPr algn="l"/>
              <a:t>2</a:t>
            </a:fld>
            <a:endParaRPr lang="de-DE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864EB9-2EA0-4164-97DA-8B05DD8A7677}"/>
              </a:ext>
            </a:extLst>
          </p:cNvPr>
          <p:cNvSpPr/>
          <p:nvPr/>
        </p:nvSpPr>
        <p:spPr>
          <a:xfrm>
            <a:off x="119336" y="104775"/>
            <a:ext cx="11953328" cy="664845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00000" y="480000"/>
            <a:ext cx="7600000" cy="950000"/>
          </a:xfrm>
        </p:spPr>
        <p:txBody>
          <a:bodyPr anchor="ctr"/>
          <a:lstStyle/>
          <a:p>
            <a:pPr algn="ctr"/>
            <a:r>
              <a:rPr sz="2800">
                <a:solidFill>
                  <a:srgbClr val="232323"/>
                </a:solidFill>
                <a:latin typeface="Cardo"/>
                <a:ea typeface="Cardo"/>
                <a:cs typeface="Cardo"/>
              </a:rPr>
              <a:t>Listen: Zählung ab 0</a:t>
            </a:r>
          </a:p>
        </p:txBody>
      </p:sp>
      <p:sp>
        <p:nvSpPr>
          <p:cNvPr id="6" name="Code 6"/>
          <p:cNvSpPr txBox="1"/>
          <p:nvPr/>
        </p:nvSpPr>
        <p:spPr>
          <a:xfrm>
            <a:off x="1260000" y="1584000"/>
            <a:ext cx="972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de-DE" sz="19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woerter = zeile.split()</a:t>
            </a:r>
            <a:endParaRPr lang="de-DE" sz="19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19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# → ['e-nu-ma', 'e-liš', 'la', 'na-bu-u₂', 'ša₂-[ma-mu]']</a:t>
            </a:r>
            <a:endParaRPr lang="de-DE" sz="1900" dirty="0"/>
          </a:p>
          <a:p>
            <a:pPr marL="0" indent="0" algn="l">
              <a:spcAft>
                <a:spcPts val="0"/>
              </a:spcAft>
              <a:buNone/>
            </a:pPr>
            <a:endParaRPr lang="de-DE" sz="19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19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woerter[0]       # → 'e-nu-ma'</a:t>
            </a:r>
            <a:endParaRPr lang="de-DE" sz="19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19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woerter[-1]      # → 'ša₂-[ma-mu]'</a:t>
            </a:r>
            <a:endParaRPr lang="de-DE" sz="19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19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woerter[1:3]     # → ['e-liš', 'la']</a:t>
            </a:r>
            <a:endParaRPr lang="de-DE" sz="1900" dirty="0"/>
          </a:p>
        </p:txBody>
      </p:sp>
      <p:sp>
        <p:nvSpPr>
          <p:cNvPr id="7" name="TextBox 7"/>
          <p:cNvSpPr txBox="1"/>
          <p:nvPr/>
        </p:nvSpPr>
        <p:spPr>
          <a:xfrm>
            <a:off x="1007999" y="3960000"/>
            <a:ext cx="101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Das erste Element hat den Index 0, das letzte den Index −1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Bei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[1:3]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ist die Endposition ausgeschlossen</a:t>
            </a:r>
            <a:endParaRPr lang="de-DE" sz="20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74C617B9-025D-434A-9329-475080415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fld id="{3889EAAA-2A39-E347-B0AA-909793490C00}" type="slidenum">
              <a:rPr lang="de-DE" smtClean="0"/>
              <a:pPr algn="l"/>
              <a:t>2</a:t>
            </a:fld>
            <a:endParaRPr lang="de-DE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864EB9-2EA0-4164-97DA-8B05DD8A7677}"/>
              </a:ext>
            </a:extLst>
          </p:cNvPr>
          <p:cNvSpPr/>
          <p:nvPr/>
        </p:nvSpPr>
        <p:spPr>
          <a:xfrm>
            <a:off x="119336" y="104775"/>
            <a:ext cx="11953328" cy="664845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00000" y="480000"/>
            <a:ext cx="7600000" cy="950000"/>
          </a:xfrm>
        </p:spPr>
        <p:txBody>
          <a:bodyPr anchor="ctr"/>
          <a:lstStyle/>
          <a:p>
            <a:pPr algn="ctr"/>
            <a:r>
              <a:rPr sz="2800">
                <a:solidFill>
                  <a:srgbClr val="232323"/>
                </a:solidFill>
                <a:latin typeface="Cardo"/>
                <a:ea typeface="Cardo"/>
                <a:cs typeface="Cardo"/>
              </a:rPr>
              <a:t>Listen und Arrays</a:t>
            </a:r>
          </a:p>
        </p:txBody>
      </p:sp>
      <p:sp>
        <p:nvSpPr>
          <p:cNvPr id="6" name="Code 6"/>
          <p:cNvSpPr txBox="1"/>
          <p:nvPr/>
        </p:nvSpPr>
        <p:spPr>
          <a:xfrm>
            <a:off x="1080000" y="1584000"/>
            <a:ext cx="1008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de-DE" sz="17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tafel = [</a:t>
            </a:r>
            <a:endParaRPr lang="de-DE" sz="17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17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    ["e-nu-ma", "e-liš", "la", "na-bu-u₂", "ša₂-[ma-mu]"],</a:t>
            </a:r>
            <a:endParaRPr lang="de-DE" sz="17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17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    ["[ša]p-liš", "am#-ma#-[tu₄", "š]u-ma", "la", "zak-ra-at"],</a:t>
            </a:r>
            <a:endParaRPr lang="de-DE" sz="17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17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]</a:t>
            </a:r>
            <a:endParaRPr lang="de-DE" sz="1700" dirty="0"/>
          </a:p>
          <a:p>
            <a:pPr marL="0" indent="0" algn="l">
              <a:spcAft>
                <a:spcPts val="0"/>
              </a:spcAft>
              <a:buNone/>
            </a:pPr>
            <a:endParaRPr lang="de-DE" sz="17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17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tafel[1][0]      # → '[ša]p-liš'   (Zeile 2, Wort 1)</a:t>
            </a:r>
            <a:endParaRPr lang="de-DE" sz="17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17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len(tafel)       # → 2</a:t>
            </a:r>
            <a:endParaRPr lang="de-DE" sz="1700" dirty="0"/>
          </a:p>
        </p:txBody>
      </p:sp>
      <p:sp>
        <p:nvSpPr>
          <p:cNvPr id="7" name="TextBox 7"/>
          <p:cNvSpPr txBox="1"/>
          <p:nvPr/>
        </p:nvSpPr>
        <p:spPr>
          <a:xfrm>
            <a:off x="1007999" y="3816000"/>
            <a:ext cx="101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In vielen Programmiersprachen heißt eine geordnete Sammlung „Array“; in Python übernimmt die Liste diese Rolle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Listen können Listen enthalten: eine Tafel als Liste von Zeilen, jede Zeile als Liste von Wörtern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Für große Zahlentabellen gibt es eigene Arrays (Paket NumPy)</a:t>
            </a:r>
            <a:endParaRPr lang="de-DE" sz="20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74C617B9-025D-434A-9329-475080415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fld id="{3889EAAA-2A39-E347-B0AA-909793490C00}" type="slidenum">
              <a:rPr lang="de-DE" smtClean="0"/>
              <a:pPr algn="l"/>
              <a:t>2</a:t>
            </a:fld>
            <a:endParaRPr lang="de-DE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864EB9-2EA0-4164-97DA-8B05DD8A7677}"/>
              </a:ext>
            </a:extLst>
          </p:cNvPr>
          <p:cNvSpPr/>
          <p:nvPr/>
        </p:nvSpPr>
        <p:spPr>
          <a:xfrm>
            <a:off x="119336" y="104775"/>
            <a:ext cx="11953328" cy="664845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00000" y="480000"/>
            <a:ext cx="7600000" cy="950000"/>
          </a:xfrm>
        </p:spPr>
        <p:txBody>
          <a:bodyPr anchor="ctr"/>
          <a:lstStyle/>
          <a:p>
            <a:pPr algn="ctr"/>
            <a:r>
              <a:rPr sz="2800">
                <a:solidFill>
                  <a:srgbClr val="232323"/>
                </a:solidFill>
                <a:latin typeface="Cardo"/>
                <a:ea typeface="Cardo"/>
                <a:cs typeface="Cardo"/>
              </a:rPr>
              <a:t>Übung 2: Werte und Listen</a:t>
            </a:r>
          </a:p>
        </p:txBody>
      </p:sp>
      <p:sp>
        <p:nvSpPr>
          <p:cNvPr id="6" name="Code 6"/>
          <p:cNvSpPr txBox="1"/>
          <p:nvPr/>
        </p:nvSpPr>
        <p:spPr>
          <a:xfrm>
            <a:off x="1440000" y="1584000"/>
            <a:ext cx="93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de-DE" sz="19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zeile = "e-nu-ma e-liš la na-bu-u₂ ša₂-[ma-mu]"</a:t>
            </a:r>
            <a:endParaRPr lang="de-DE" sz="1900" dirty="0"/>
          </a:p>
        </p:txBody>
      </p:sp>
      <p:sp>
        <p:nvSpPr>
          <p:cNvPr id="7" name="TextBox 7"/>
          <p:cNvSpPr txBox="1"/>
          <p:nvPr/>
        </p:nvSpPr>
        <p:spPr>
          <a:xfrm>
            <a:off x="1007999" y="2376000"/>
            <a:ext cx="101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457200" indent="-457200" algn="l">
              <a:spcAft>
                <a:spcPts val="1400"/>
              </a:spcAft>
              <a:buFont typeface="+mj-lt"/>
              <a:buAutoNum type="arabicPeriod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Zerlegen Sie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zeile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in Wörter und geben Sie die Anzahl der Wörter aus</a:t>
            </a:r>
            <a:endParaRPr lang="de-DE" sz="2000" dirty="0"/>
          </a:p>
          <a:p>
            <a:pPr marL="457200" indent="-457200" algn="l">
              <a:spcAft>
                <a:spcPts val="1400"/>
              </a:spcAft>
              <a:buFont typeface="+mj-lt"/>
              <a:buAutoNum type="arabicPeriod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Geben Sie das erste und das letzte Wort aus</a:t>
            </a:r>
            <a:endParaRPr lang="de-DE" sz="2000" dirty="0"/>
          </a:p>
          <a:p>
            <a:pPr marL="457200" indent="-457200" algn="l">
              <a:spcAft>
                <a:spcPts val="1400"/>
              </a:spcAft>
              <a:buFont typeface="+mj-lt"/>
              <a:buAutoNum type="arabicPeriod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Legen Sie eine Liste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tafel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mit den Zeilen 1–4 an (als Zeichenketten) und geben Sie Zeile 3 aus</a:t>
            </a:r>
            <a:endParaRPr lang="de-DE" sz="2000" dirty="0"/>
          </a:p>
          <a:p>
            <a:pPr marL="457200" indent="-457200" algn="l">
              <a:spcAft>
                <a:spcPts val="1400"/>
              </a:spcAft>
              <a:buFont typeface="+mj-lt"/>
              <a:buAutoNum type="arabicPeriod"/>
            </a:pPr>
            <a:r>
              <a:rPr lang="de-DE" sz="20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Zusatz: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Wie viele Zeichen hat </a:t>
            </a:r>
            <a:r>
              <a:rPr lang="de-DE" sz="2000" i="1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na-bu-u₂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? Und was ergibt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tafel[2].split()[0]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?</a:t>
            </a:r>
            <a:endParaRPr lang="de-DE" sz="2000" dirty="0"/>
          </a:p>
        </p:txBody>
      </p:sp>
      <p:sp>
        <p:nvSpPr>
          <p:cNvPr id="8" name="TextBox 8"/>
          <p:cNvSpPr txBox="1"/>
          <p:nvPr/>
        </p:nvSpPr>
        <p:spPr>
          <a:xfrm>
            <a:off x="1007999" y="5040000"/>
            <a:ext cx="101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spcAft>
                <a:spcPts val="1400"/>
              </a:spcAft>
              <a:buNone/>
            </a:pPr>
            <a:r>
              <a:rPr lang="de-DE" sz="18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Kontrolle:</a:t>
            </a:r>
            <a:r>
              <a:rPr lang="de-DE" sz="18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5 Wörter; </a:t>
            </a:r>
            <a:r>
              <a:rPr lang="de-DE" sz="1800" i="1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e-nu-ma</a:t>
            </a:r>
            <a:r>
              <a:rPr lang="de-DE" sz="18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und </a:t>
            </a:r>
            <a:r>
              <a:rPr lang="de-DE" sz="1800" i="1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ša₂-[ma-mu]</a:t>
            </a:r>
            <a:r>
              <a:rPr lang="de-DE" sz="18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; Zeile 3 beginnt mit </a:t>
            </a:r>
            <a:r>
              <a:rPr lang="de-DE" sz="1800" i="1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ABZU-ma</a:t>
            </a:r>
            <a:endParaRPr lang="de-DE" sz="18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74C617B9-025D-434A-9329-475080415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fld id="{3889EAAA-2A39-E347-B0AA-909793490C00}" type="slidenum">
              <a:rPr lang="de-DE" smtClean="0"/>
              <a:pPr algn="l"/>
              <a:t>2</a:t>
            </a:fld>
            <a:endParaRPr lang="de-DE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864EB9-2EA0-4164-97DA-8B05DD8A7677}"/>
              </a:ext>
            </a:extLst>
          </p:cNvPr>
          <p:cNvSpPr/>
          <p:nvPr/>
        </p:nvSpPr>
        <p:spPr>
          <a:xfrm>
            <a:off x="119336" y="104775"/>
            <a:ext cx="11953328" cy="664845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00000" y="480000"/>
            <a:ext cx="7600000" cy="950000"/>
          </a:xfrm>
        </p:spPr>
        <p:txBody>
          <a:bodyPr anchor="ctr"/>
          <a:lstStyle/>
          <a:p>
            <a:pPr algn="ctr"/>
            <a:r>
              <a:rPr sz="2800">
                <a:solidFill>
                  <a:srgbClr val="232323"/>
                </a:solidFill>
                <a:latin typeface="Cardo"/>
                <a:ea typeface="Cardo"/>
                <a:cs typeface="Cardo"/>
              </a:rPr>
              <a:t>Funktionen</a:t>
            </a:r>
          </a:p>
        </p:txBody>
      </p:sp>
      <p:sp>
        <p:nvSpPr>
          <p:cNvPr id="6" name="Code 6"/>
          <p:cNvSpPr txBox="1"/>
          <p:nvPr/>
        </p:nvSpPr>
        <p:spPr>
          <a:xfrm>
            <a:off x="1260000" y="1584000"/>
            <a:ext cx="972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len("e-nu-ma")                     # → 7</a:t>
            </a:r>
            <a:endParaRPr lang="de-DE" sz="18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sorted(["la", "e-liš", "e-nu-ma"])  # → ['e-liš', 'e-nu-ma', 'la']</a:t>
            </a:r>
            <a:endParaRPr lang="de-DE" sz="18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"e-nu-ma".split("-")              # → ['e', 'nu', 'ma']</a:t>
            </a:r>
            <a:endParaRPr lang="de-DE" sz="1800" dirty="0"/>
          </a:p>
          <a:p>
            <a:pPr marL="0" indent="0" algn="l">
              <a:spcAft>
                <a:spcPts val="0"/>
              </a:spcAft>
              <a:buNone/>
            </a:pPr>
            <a:endParaRPr lang="de-DE" sz="18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def anzahl_zeichen(wort):</a:t>
            </a:r>
            <a:endParaRPr lang="de-DE" sz="18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    return len(wort.split("-"))</a:t>
            </a:r>
            <a:endParaRPr lang="de-DE" sz="1800" dirty="0"/>
          </a:p>
          <a:p>
            <a:pPr marL="0" indent="0" algn="l">
              <a:spcAft>
                <a:spcPts val="0"/>
              </a:spcAft>
              <a:buNone/>
            </a:pPr>
            <a:endParaRPr lang="de-DE" sz="18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anzahl_zeichen("mu-al-li-da-at")  # → 5</a:t>
            </a:r>
            <a:endParaRPr lang="de-DE" sz="1800" dirty="0"/>
          </a:p>
        </p:txBody>
      </p:sp>
      <p:sp>
        <p:nvSpPr>
          <p:cNvPr id="7" name="TextBox 7"/>
          <p:cNvSpPr txBox="1"/>
          <p:nvPr/>
        </p:nvSpPr>
        <p:spPr>
          <a:xfrm>
            <a:off x="1007999" y="4428000"/>
            <a:ext cx="101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Eine Funktion nimmt Argumente entgegen und gibt ein Ergebnis zurück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Eigene Funktionen mit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def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; Methoden wie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.split()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gehören zu einem Wert</a:t>
            </a:r>
            <a:endParaRPr lang="de-DE" sz="20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74C617B9-025D-434A-9329-475080415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fld id="{3889EAAA-2A39-E347-B0AA-909793490C00}" type="slidenum">
              <a:rPr lang="de-DE" smtClean="0"/>
              <a:pPr algn="l"/>
              <a:t>2</a:t>
            </a:fld>
            <a:endParaRPr lang="de-DE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864EB9-2EA0-4164-97DA-8B05DD8A7677}"/>
              </a:ext>
            </a:extLst>
          </p:cNvPr>
          <p:cNvSpPr/>
          <p:nvPr/>
        </p:nvSpPr>
        <p:spPr>
          <a:xfrm>
            <a:off x="119336" y="104775"/>
            <a:ext cx="11953328" cy="664845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00000" y="480000"/>
            <a:ext cx="7600000" cy="950000"/>
          </a:xfrm>
        </p:spPr>
        <p:txBody>
          <a:bodyPr anchor="ctr"/>
          <a:lstStyle/>
          <a:p>
            <a:pPr algn="ctr"/>
            <a:r>
              <a:rPr sz="2800">
                <a:solidFill>
                  <a:srgbClr val="232323"/>
                </a:solidFill>
                <a:latin typeface="Cardo"/>
                <a:ea typeface="Cardo"/>
                <a:cs typeface="Cardo"/>
              </a:rPr>
              <a:t>Schleifen und Bedingungen</a:t>
            </a:r>
          </a:p>
        </p:txBody>
      </p:sp>
      <p:sp>
        <p:nvSpPr>
          <p:cNvPr id="6" name="Code 6"/>
          <p:cNvSpPr txBox="1"/>
          <p:nvPr/>
        </p:nvSpPr>
        <p:spPr>
          <a:xfrm>
            <a:off x="1440000" y="1584000"/>
            <a:ext cx="93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de-DE" sz="19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zeile = "[ša]p-liš am#-ma#-[tu₄ š]u-ma la zak-ra-at"</a:t>
            </a:r>
            <a:endParaRPr lang="de-DE" sz="1900" dirty="0"/>
          </a:p>
          <a:p>
            <a:pPr marL="0" indent="0" algn="l">
              <a:spcAft>
                <a:spcPts val="0"/>
              </a:spcAft>
              <a:buNone/>
            </a:pPr>
            <a:endParaRPr lang="de-DE" sz="19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19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for wort in zeile.split():</a:t>
            </a:r>
            <a:endParaRPr lang="de-DE" sz="19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19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    if "#" in wort:</a:t>
            </a:r>
            <a:endParaRPr lang="de-DE" sz="19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19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        print("beschädigt:", wort)</a:t>
            </a:r>
            <a:endParaRPr lang="de-DE" sz="19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19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    else:</a:t>
            </a:r>
            <a:endParaRPr lang="de-DE" sz="19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19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        print("ohne #:", wort)</a:t>
            </a:r>
            <a:endParaRPr lang="de-DE" sz="1900" dirty="0"/>
          </a:p>
        </p:txBody>
      </p:sp>
      <p:sp>
        <p:nvSpPr>
          <p:cNvPr id="7" name="TextBox 7"/>
          <p:cNvSpPr txBox="1"/>
          <p:nvPr/>
        </p:nvSpPr>
        <p:spPr>
          <a:xfrm>
            <a:off x="1007999" y="4031999"/>
            <a:ext cx="101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for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wiederholt einen Block für jedes Element,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if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führt ihn nur unter einer Bedingung aus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Der Doppelpunkt eröffnet den Block; die Einrückung (4 Leerzeichen) gehört zur Syntax</a:t>
            </a:r>
            <a:endParaRPr lang="de-DE" sz="20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74C617B9-025D-434A-9329-475080415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fld id="{3889EAAA-2A39-E347-B0AA-909793490C00}" type="slidenum">
              <a:rPr lang="de-DE" smtClean="0"/>
              <a:pPr algn="l"/>
              <a:t>2</a:t>
            </a:fld>
            <a:endParaRPr lang="de-DE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864EB9-2EA0-4164-97DA-8B05DD8A7677}"/>
              </a:ext>
            </a:extLst>
          </p:cNvPr>
          <p:cNvSpPr/>
          <p:nvPr/>
        </p:nvSpPr>
        <p:spPr>
          <a:xfrm>
            <a:off x="119336" y="104775"/>
            <a:ext cx="11953328" cy="664845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00000" y="480000"/>
            <a:ext cx="7600000" cy="950000"/>
          </a:xfrm>
        </p:spPr>
        <p:txBody>
          <a:bodyPr anchor="ctr"/>
          <a:lstStyle/>
          <a:p>
            <a:pPr algn="ctr"/>
            <a:r>
              <a:rPr sz="2800">
                <a:solidFill>
                  <a:srgbClr val="232323"/>
                </a:solidFill>
                <a:latin typeface="Cardo"/>
                <a:ea typeface="Cardo"/>
                <a:cs typeface="Cardo"/>
              </a:rPr>
              <a:t>Module</a:t>
            </a:r>
          </a:p>
        </p:txBody>
      </p:sp>
      <p:sp>
        <p:nvSpPr>
          <p:cNvPr id="6" name="Code 6"/>
          <p:cNvSpPr txBox="1"/>
          <p:nvPr/>
        </p:nvSpPr>
        <p:spPr>
          <a:xfrm>
            <a:off x="2880000" y="1655999"/>
            <a:ext cx="648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import re</a:t>
            </a:r>
            <a:endParaRPr lang="de-DE" sz="20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from collections import Counter</a:t>
            </a:r>
            <a:endParaRPr lang="de-DE" sz="2000" dirty="0"/>
          </a:p>
        </p:txBody>
      </p:sp>
      <p:sp>
        <p:nvSpPr>
          <p:cNvPr id="7" name="TextBox 7"/>
          <p:cNvSpPr txBox="1"/>
          <p:nvPr/>
        </p:nvSpPr>
        <p:spPr>
          <a:xfrm>
            <a:off x="1007999" y="2736000"/>
            <a:ext cx="101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Standardbibliothek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(immer vorhanden):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re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reguläre Ausdrücke,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collections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zählen,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json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Daten lesen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Zusatzpakete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werden einmal installiert, z. B.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python -m pip install requests</a:t>
            </a:r>
            <a:endParaRPr lang="de-DE" sz="20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74C617B9-025D-434A-9329-475080415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fld id="{3889EAAA-2A39-E347-B0AA-909793490C00}" type="slidenum">
              <a:rPr lang="de-DE" smtClean="0"/>
              <a:pPr algn="l"/>
              <a:t>2</a:t>
            </a:fld>
            <a:endParaRPr lang="de-DE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864EB9-2EA0-4164-97DA-8B05DD8A7677}"/>
              </a:ext>
            </a:extLst>
          </p:cNvPr>
          <p:cNvSpPr/>
          <p:nvPr/>
        </p:nvSpPr>
        <p:spPr>
          <a:xfrm>
            <a:off x="119336" y="104775"/>
            <a:ext cx="11953328" cy="664845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00000" y="480000"/>
            <a:ext cx="7600000" cy="950000"/>
          </a:xfrm>
        </p:spPr>
        <p:txBody>
          <a:bodyPr anchor="ctr"/>
          <a:lstStyle/>
          <a:p>
            <a:pPr algn="ctr"/>
            <a:r>
              <a:rPr sz="2800">
                <a:solidFill>
                  <a:srgbClr val="232323"/>
                </a:solidFill>
                <a:latin typeface="Cardo"/>
                <a:ea typeface="Cardo"/>
                <a:cs typeface="Cardo"/>
              </a:rPr>
              <a:t>Fehlermeldungen</a:t>
            </a:r>
          </a:p>
        </p:txBody>
      </p:sp>
      <p:sp>
        <p:nvSpPr>
          <p:cNvPr id="6" name="Code 6"/>
          <p:cNvSpPr txBox="1"/>
          <p:nvPr/>
        </p:nvSpPr>
        <p:spPr>
          <a:xfrm>
            <a:off x="1800000" y="1584000"/>
            <a:ext cx="864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Traceback (most recent call last):</a:t>
            </a:r>
            <a:endParaRPr lang="de-DE" sz="18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  File "zeilen.py", line 3, in &lt;module&gt;</a:t>
            </a:r>
            <a:endParaRPr lang="de-DE" sz="18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    print(wrot)</a:t>
            </a:r>
            <a:endParaRPr lang="de-DE" sz="18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          ^^^^</a:t>
            </a:r>
            <a:endParaRPr lang="de-DE" sz="18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NameError: name 'wrot' is not defined</a:t>
            </a:r>
            <a:endParaRPr lang="de-DE" sz="1800" dirty="0"/>
          </a:p>
        </p:txBody>
      </p:sp>
      <p:sp>
        <p:nvSpPr>
          <p:cNvPr id="7" name="TextBox 7"/>
          <p:cNvSpPr txBox="1"/>
          <p:nvPr/>
        </p:nvSpPr>
        <p:spPr>
          <a:xfrm>
            <a:off x="1007999" y="3564000"/>
            <a:ext cx="101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Zuerst die letzte Zeile lesen (Art des Fehlers), dann Datei und Zeilennummer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SyntaxError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,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IndentationError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,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NameError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,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TypeError</a:t>
            </a:r>
            <a:endParaRPr lang="de-DE" sz="20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74C617B9-025D-434A-9329-475080415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fld id="{3889EAAA-2A39-E347-B0AA-909793490C00}" type="slidenum">
              <a:rPr lang="de-DE" smtClean="0"/>
              <a:pPr algn="l"/>
              <a:t>2</a:t>
            </a:fld>
            <a:endParaRPr lang="de-DE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864EB9-2EA0-4164-97DA-8B05DD8A7677}"/>
              </a:ext>
            </a:extLst>
          </p:cNvPr>
          <p:cNvSpPr/>
          <p:nvPr/>
        </p:nvSpPr>
        <p:spPr>
          <a:xfrm>
            <a:off x="119336" y="104775"/>
            <a:ext cx="11953328" cy="664845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00000" y="480000"/>
            <a:ext cx="7600000" cy="950000"/>
          </a:xfrm>
        </p:spPr>
        <p:txBody>
          <a:bodyPr anchor="ctr"/>
          <a:lstStyle/>
          <a:p>
            <a:pPr algn="ctr"/>
            <a:r>
              <a:rPr sz="2800">
                <a:solidFill>
                  <a:srgbClr val="232323"/>
                </a:solidFill>
                <a:latin typeface="Cardo"/>
                <a:ea typeface="Cardo"/>
                <a:cs typeface="Cardo"/>
              </a:rPr>
              <a:t>Übung 3: Funktionen und Schleifen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7999" y="1764000"/>
            <a:ext cx="101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457200" indent="-457200" algn="l">
              <a:spcAft>
                <a:spcPts val="1400"/>
              </a:spcAft>
              <a:buFont typeface="+mj-lt"/>
              <a:buAutoNum type="arabicPeriod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Schreiben Sie eine Funktion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anzahl_zeichen(wort)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und testen Sie sie mit </a:t>
            </a:r>
            <a:r>
              <a:rPr lang="de-DE" sz="2000" i="1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mu-al-li-da-at</a:t>
            </a:r>
            <a:endParaRPr lang="de-DE" sz="2000" dirty="0"/>
          </a:p>
          <a:p>
            <a:pPr marL="457200" indent="-457200" algn="l">
              <a:spcAft>
                <a:spcPts val="1400"/>
              </a:spcAft>
              <a:buFont typeface="+mj-lt"/>
              <a:buAutoNum type="arabicPeriod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Gehen Sie mit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for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durch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tafel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und geben Sie für jede Zeile die Anzahl der Wörter aus und ob sie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#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enthält</a:t>
            </a:r>
            <a:endParaRPr lang="de-DE" sz="2000" dirty="0"/>
          </a:p>
          <a:p>
            <a:pPr marL="457200" indent="-457200" algn="l">
              <a:spcAft>
                <a:spcPts val="1400"/>
              </a:spcAft>
              <a:buFont typeface="+mj-lt"/>
              <a:buAutoNum type="arabicPeriod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Erzeugen Sie absichtlich einen Fehler (z. B.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print(zeil)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) und lesen Sie die Meldung</a:t>
            </a:r>
            <a:endParaRPr lang="de-DE" sz="2000" dirty="0"/>
          </a:p>
          <a:p>
            <a:pPr marL="457200" indent="-457200" algn="l">
              <a:spcAft>
                <a:spcPts val="1400"/>
              </a:spcAft>
              <a:buFont typeface="+mj-lt"/>
              <a:buAutoNum type="arabicPeriod"/>
            </a:pPr>
            <a:r>
              <a:rPr lang="de-DE" sz="20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Zusatz: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Geben Sie auch die Zeilennummer aus; Tipp: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enumerate(tafel, 1)</a:t>
            </a:r>
            <a:endParaRPr lang="de-DE" sz="2000" dirty="0"/>
          </a:p>
        </p:txBody>
      </p:sp>
      <p:sp>
        <p:nvSpPr>
          <p:cNvPr id="7" name="TextBox 7"/>
          <p:cNvSpPr txBox="1"/>
          <p:nvPr/>
        </p:nvSpPr>
        <p:spPr>
          <a:xfrm>
            <a:off x="1007999" y="4752000"/>
            <a:ext cx="101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spcAft>
                <a:spcPts val="1400"/>
              </a:spcAft>
              <a:buNone/>
            </a:pPr>
            <a:r>
              <a:rPr lang="de-DE" sz="18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Kontrolle:</a:t>
            </a:r>
            <a:r>
              <a:rPr lang="de-DE" sz="18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</a:t>
            </a:r>
            <a:r>
              <a:rPr lang="de-DE" sz="1800" i="1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mu-al-li-da-at</a:t>
            </a:r>
            <a:r>
              <a:rPr lang="de-DE" sz="18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hat 5 Zeichen; Wörter je Zeile: 5, 5, 3, 4; nur Zeile 1 ohne </a:t>
            </a:r>
            <a:r>
              <a:rPr lang="de-DE" sz="16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#</a:t>
            </a:r>
            <a:endParaRPr lang="de-DE" sz="18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74C617B9-025D-434A-9329-475080415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fld id="{3889EAAA-2A39-E347-B0AA-909793490C00}" type="slidenum">
              <a:rPr lang="de-DE" smtClean="0"/>
              <a:pPr algn="l"/>
              <a:t>2</a:t>
            </a:fld>
            <a:endParaRPr lang="de-DE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864EB9-2EA0-4164-97DA-8B05DD8A7677}"/>
              </a:ext>
            </a:extLst>
          </p:cNvPr>
          <p:cNvSpPr/>
          <p:nvPr/>
        </p:nvSpPr>
        <p:spPr>
          <a:xfrm>
            <a:off x="119336" y="104775"/>
            <a:ext cx="11953328" cy="664845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00000" y="480000"/>
            <a:ext cx="7600000" cy="950000"/>
          </a:xfrm>
        </p:spPr>
        <p:txBody>
          <a:bodyPr anchor="ctr"/>
          <a:lstStyle/>
          <a:p>
            <a:pPr algn="ctr"/>
            <a:r>
              <a:rPr sz="2800">
                <a:solidFill>
                  <a:srgbClr val="232323"/>
                </a:solidFill>
                <a:latin typeface="Cardo"/>
                <a:ea typeface="Cardo"/>
                <a:cs typeface="Cardo"/>
              </a:rPr>
              <a:t>Reguläre Ausdrücke</a:t>
            </a:r>
          </a:p>
        </p:txBody>
      </p:sp>
      <p:sp>
        <p:nvSpPr>
          <p:cNvPr id="6" name="Code 6"/>
          <p:cNvSpPr txBox="1"/>
          <p:nvPr/>
        </p:nvSpPr>
        <p:spPr>
          <a:xfrm>
            <a:off x="2520000" y="1655999"/>
            <a:ext cx="75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[ša]p-liš am#-ma#-[tu₄ š]u-ma la zak-ra-at</a:t>
            </a:r>
            <a:endParaRPr lang="de-DE" sz="2000" dirty="0"/>
          </a:p>
        </p:txBody>
      </p:sp>
      <p:sp>
        <p:nvSpPr>
          <p:cNvPr id="7" name="TextBox 7"/>
          <p:cNvSpPr txBox="1"/>
          <p:nvPr/>
        </p:nvSpPr>
        <p:spPr>
          <a:xfrm>
            <a:off x="1080000" y="2520000"/>
            <a:ext cx="10044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spcAft>
                <a:spcPts val="140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Suche: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am#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→ nur diese Zeichenfolge</a:t>
            </a:r>
            <a:endParaRPr lang="de-DE" sz="2000" dirty="0"/>
          </a:p>
          <a:p>
            <a:pPr marL="0" indent="0" algn="ctr">
              <a:spcAft>
                <a:spcPts val="140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Muster: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[^\s.\-\[\]]+#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→ am#, ma#</a:t>
            </a:r>
            <a:endParaRPr lang="de-DE" sz="2000" dirty="0"/>
          </a:p>
        </p:txBody>
      </p:sp>
      <p:sp>
        <p:nvSpPr>
          <p:cNvPr id="8" name="TextBox 8"/>
          <p:cNvSpPr txBox="1"/>
          <p:nvPr/>
        </p:nvSpPr>
        <p:spPr>
          <a:xfrm>
            <a:off x="1007999" y="3816000"/>
            <a:ext cx="101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Ein regulärer Ausdruck beschreibt die Form des Gesuchten, nicht das Gesuchte selbst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Zum Ausprobieren: regex101.com (Einstellung „Python“)</a:t>
            </a:r>
            <a:endParaRPr lang="de-DE" sz="2000" dirty="0"/>
          </a:p>
        </p:txBody>
      </p:sp>
      <p:sp>
        <p:nvSpPr>
          <p:cNvPr id="9" name="Quelle 9"/>
          <p:cNvSpPr txBox="1"/>
          <p:nvPr/>
        </p:nvSpPr>
        <p:spPr>
          <a:xfrm>
            <a:off x="4284000" y="5616000"/>
            <a:ext cx="7163999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de-DE" sz="14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Enūma eliš I 2</a:t>
            </a:r>
            <a:endParaRPr lang="de-DE" sz="14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74C617B9-025D-434A-9329-475080415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fld id="{3889EAAA-2A39-E347-B0AA-909793490C00}" type="slidenum">
              <a:rPr lang="de-DE" smtClean="0"/>
              <a:pPr algn="l"/>
              <a:t>2</a:t>
            </a:fld>
            <a:endParaRPr lang="de-DE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864EB9-2EA0-4164-97DA-8B05DD8A7677}"/>
              </a:ext>
            </a:extLst>
          </p:cNvPr>
          <p:cNvSpPr/>
          <p:nvPr/>
        </p:nvSpPr>
        <p:spPr>
          <a:xfrm>
            <a:off x="119336" y="104775"/>
            <a:ext cx="11953328" cy="664845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00000" y="480000"/>
            <a:ext cx="7600000" cy="950000"/>
          </a:xfrm>
        </p:spPr>
        <p:txBody>
          <a:bodyPr anchor="ctr"/>
          <a:lstStyle/>
          <a:p>
            <a:pPr algn="ctr"/>
            <a:r>
              <a:rPr sz="2800">
                <a:solidFill>
                  <a:srgbClr val="232323"/>
                </a:solidFill>
                <a:latin typeface="Cardo"/>
                <a:ea typeface="Cardo"/>
                <a:cs typeface="Cardo"/>
              </a:rPr>
              <a:t>Die wichtigsten Zeichen</a:t>
            </a:r>
          </a:p>
        </p:txBody>
      </p:sp>
      <p:sp>
        <p:nvSpPr>
          <p:cNvPr id="6" name="Spalte 6"/>
          <p:cNvSpPr txBox="1"/>
          <p:nvPr/>
        </p:nvSpPr>
        <p:spPr>
          <a:xfrm>
            <a:off x="1440000" y="1620000"/>
            <a:ext cx="108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spcAft>
                <a:spcPts val="130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.</a:t>
            </a:r>
            <a:endParaRPr lang="de-DE" sz="2000" dirty="0"/>
          </a:p>
          <a:p>
            <a:pPr marL="0" indent="0" algn="l">
              <a:spcAft>
                <a:spcPts val="130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\w</a:t>
            </a:r>
            <a:endParaRPr lang="de-DE" sz="2000" dirty="0"/>
          </a:p>
          <a:p>
            <a:pPr marL="0" indent="0" algn="l">
              <a:spcAft>
                <a:spcPts val="130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\d</a:t>
            </a:r>
            <a:endParaRPr lang="de-DE" sz="2000" dirty="0"/>
          </a:p>
          <a:p>
            <a:pPr marL="0" indent="0" algn="l">
              <a:spcAft>
                <a:spcPts val="130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\s</a:t>
            </a:r>
            <a:endParaRPr lang="de-DE" sz="2000" dirty="0"/>
          </a:p>
          <a:p>
            <a:pPr marL="0" indent="0" algn="l">
              <a:spcAft>
                <a:spcPts val="130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+</a:t>
            </a:r>
            <a:endParaRPr lang="de-DE" sz="2000" dirty="0"/>
          </a:p>
          <a:p>
            <a:pPr marL="0" indent="0" algn="l">
              <a:spcAft>
                <a:spcPts val="130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*</a:t>
            </a:r>
            <a:endParaRPr lang="de-DE" sz="2000" dirty="0"/>
          </a:p>
        </p:txBody>
      </p:sp>
      <p:sp>
        <p:nvSpPr>
          <p:cNvPr id="7" name="Spalte 7"/>
          <p:cNvSpPr txBox="1"/>
          <p:nvPr/>
        </p:nvSpPr>
        <p:spPr>
          <a:xfrm>
            <a:off x="2520000" y="1620000"/>
            <a:ext cx="342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spcAft>
                <a:spcPts val="130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beliebiges Zeichen</a:t>
            </a:r>
            <a:endParaRPr lang="de-DE" sz="2000" dirty="0"/>
          </a:p>
          <a:p>
            <a:pPr marL="0" indent="0" algn="l">
              <a:spcAft>
                <a:spcPts val="130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Buchstabe, Ziffer, _</a:t>
            </a:r>
            <a:endParaRPr lang="de-DE" sz="2000" dirty="0"/>
          </a:p>
          <a:p>
            <a:pPr marL="0" indent="0" algn="l">
              <a:spcAft>
                <a:spcPts val="130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Ziffer 0–9</a:t>
            </a:r>
            <a:endParaRPr lang="de-DE" sz="2000" dirty="0"/>
          </a:p>
          <a:p>
            <a:pPr marL="0" indent="0" algn="l">
              <a:spcAft>
                <a:spcPts val="130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Leerzeichen</a:t>
            </a:r>
            <a:endParaRPr lang="de-DE" sz="2000" dirty="0"/>
          </a:p>
          <a:p>
            <a:pPr marL="0" indent="0" algn="l">
              <a:spcAft>
                <a:spcPts val="130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einmal oder öfter</a:t>
            </a:r>
            <a:endParaRPr lang="de-DE" sz="2000" dirty="0"/>
          </a:p>
          <a:p>
            <a:pPr marL="0" indent="0" algn="l">
              <a:spcAft>
                <a:spcPts val="130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keinmal oder öfter</a:t>
            </a:r>
            <a:endParaRPr lang="de-DE" sz="2000" dirty="0"/>
          </a:p>
        </p:txBody>
      </p:sp>
      <p:sp>
        <p:nvSpPr>
          <p:cNvPr id="8" name="Spalte 8"/>
          <p:cNvSpPr txBox="1"/>
          <p:nvPr/>
        </p:nvSpPr>
        <p:spPr>
          <a:xfrm>
            <a:off x="5940000" y="1620000"/>
            <a:ext cx="12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spcAft>
                <a:spcPts val="130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?</a:t>
            </a:r>
            <a:endParaRPr lang="de-DE" sz="2000" dirty="0"/>
          </a:p>
          <a:p>
            <a:pPr marL="0" indent="0" algn="l">
              <a:spcAft>
                <a:spcPts val="130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[abc]</a:t>
            </a:r>
            <a:endParaRPr lang="de-DE" sz="2000" dirty="0"/>
          </a:p>
          <a:p>
            <a:pPr marL="0" indent="0" algn="l">
              <a:spcAft>
                <a:spcPts val="130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[^abc]</a:t>
            </a:r>
            <a:endParaRPr lang="de-DE" sz="2000" dirty="0"/>
          </a:p>
          <a:p>
            <a:pPr marL="0" indent="0" algn="l">
              <a:spcAft>
                <a:spcPts val="130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( )</a:t>
            </a:r>
            <a:endParaRPr lang="de-DE" sz="2000" dirty="0"/>
          </a:p>
          <a:p>
            <a:pPr marL="0" indent="0" algn="l">
              <a:spcAft>
                <a:spcPts val="130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|</a:t>
            </a:r>
            <a:endParaRPr lang="de-DE" sz="2000" dirty="0"/>
          </a:p>
          <a:p>
            <a:pPr marL="0" indent="0" algn="l">
              <a:spcAft>
                <a:spcPts val="130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\</a:t>
            </a:r>
            <a:endParaRPr lang="de-DE" sz="2000" dirty="0"/>
          </a:p>
        </p:txBody>
      </p:sp>
      <p:sp>
        <p:nvSpPr>
          <p:cNvPr id="9" name="Spalte 9"/>
          <p:cNvSpPr txBox="1"/>
          <p:nvPr/>
        </p:nvSpPr>
        <p:spPr>
          <a:xfrm>
            <a:off x="7200000" y="1620000"/>
            <a:ext cx="342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spcAft>
                <a:spcPts val="130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optional</a:t>
            </a:r>
            <a:endParaRPr lang="de-DE" sz="2000" dirty="0"/>
          </a:p>
          <a:p>
            <a:pPr marL="0" indent="0" algn="l">
              <a:spcAft>
                <a:spcPts val="130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eines dieser Zeichen</a:t>
            </a:r>
            <a:endParaRPr lang="de-DE" sz="2000" dirty="0"/>
          </a:p>
          <a:p>
            <a:pPr marL="0" indent="0" algn="l">
              <a:spcAft>
                <a:spcPts val="130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keines dieser Zeichen</a:t>
            </a:r>
            <a:endParaRPr lang="de-DE" sz="2000" dirty="0"/>
          </a:p>
          <a:p>
            <a:pPr marL="0" indent="0" algn="l">
              <a:spcAft>
                <a:spcPts val="130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Gruppe</a:t>
            </a:r>
            <a:endParaRPr lang="de-DE" sz="2000" dirty="0"/>
          </a:p>
          <a:p>
            <a:pPr marL="0" indent="0" algn="l">
              <a:spcAft>
                <a:spcPts val="130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oder</a:t>
            </a:r>
            <a:endParaRPr lang="de-DE" sz="2000" dirty="0"/>
          </a:p>
          <a:p>
            <a:pPr marL="0" indent="0" algn="l">
              <a:spcAft>
                <a:spcPts val="130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Sonderzeichen wörtlich</a:t>
            </a:r>
            <a:endParaRPr lang="de-DE" sz="20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74C617B9-025D-434A-9329-475080415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fld id="{3889EAAA-2A39-E347-B0AA-909793490C00}" type="slidenum">
              <a:rPr lang="de-DE" smtClean="0"/>
              <a:pPr algn="l"/>
              <a:t>2</a:t>
            </a:fld>
            <a:endParaRPr lang="de-DE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864EB9-2EA0-4164-97DA-8B05DD8A7677}"/>
              </a:ext>
            </a:extLst>
          </p:cNvPr>
          <p:cNvSpPr/>
          <p:nvPr/>
        </p:nvSpPr>
        <p:spPr>
          <a:xfrm>
            <a:off x="119336" y="104775"/>
            <a:ext cx="11953328" cy="664845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00000" y="480000"/>
            <a:ext cx="7600000" cy="950000"/>
          </a:xfrm>
        </p:spPr>
        <p:txBody>
          <a:bodyPr anchor="ctr"/>
          <a:lstStyle/>
          <a:p>
            <a:pPr algn="ctr"/>
            <a:r>
              <a:rPr sz="2800">
                <a:solidFill>
                  <a:srgbClr val="232323"/>
                </a:solidFill>
                <a:latin typeface="Cardo"/>
                <a:ea typeface="Cardo"/>
                <a:cs typeface="Cardo"/>
              </a:rPr>
              <a:t>Reguläre Ausdrücke in Python</a:t>
            </a:r>
          </a:p>
        </p:txBody>
      </p:sp>
      <p:sp>
        <p:nvSpPr>
          <p:cNvPr id="6" name="Code 6"/>
          <p:cNvSpPr txBox="1"/>
          <p:nvPr/>
        </p:nvSpPr>
        <p:spPr>
          <a:xfrm>
            <a:off x="1080000" y="1584000"/>
            <a:ext cx="1008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import re</a:t>
            </a:r>
            <a:endParaRPr lang="de-DE" sz="18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z2 = "[ša]p-liš am#-ma#-[tu₄ š]u-ma la zak-ra-at"</a:t>
            </a:r>
            <a:endParaRPr lang="de-DE" sz="18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z3 = "ABZU-ma reš#-tu-u₂ za-ru-šu-un"</a:t>
            </a:r>
            <a:endParaRPr lang="de-DE" sz="1800" dirty="0"/>
          </a:p>
          <a:p>
            <a:pPr marL="0" indent="0" algn="l">
              <a:spcAft>
                <a:spcPts val="0"/>
              </a:spcAft>
              <a:buNone/>
            </a:pPr>
            <a:endParaRPr lang="de-DE" sz="18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re.findall(r"\[([^\]]*)\]", z2)   # → ['ša', 'tu₄ š']</a:t>
            </a:r>
            <a:endParaRPr lang="de-DE" sz="18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re.findall(r"[A-Z]+", z3)          # → ['ABZU']</a:t>
            </a:r>
            <a:endParaRPr lang="de-DE" sz="18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re.sub(r"[#\[\]]", "", z2)         # → 'šap-liš am-ma-tu₄ šu-ma …'</a:t>
            </a:r>
            <a:endParaRPr lang="de-DE" sz="18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re.split(r"[-.\s]+", "zak-ra-at")  # → ['zak', 'ra', 'at']</a:t>
            </a:r>
            <a:endParaRPr lang="de-DE" sz="1800" dirty="0"/>
          </a:p>
        </p:txBody>
      </p:sp>
      <p:sp>
        <p:nvSpPr>
          <p:cNvPr id="7" name="TextBox 7"/>
          <p:cNvSpPr txBox="1"/>
          <p:nvPr/>
        </p:nvSpPr>
        <p:spPr>
          <a:xfrm>
            <a:off x="1007999" y="4176000"/>
            <a:ext cx="101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findall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sucht,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sub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ersetzt,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split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zerlegt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r"…"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: Rückstriche bleiben, wie sie sind; für Muster immer verwenden</a:t>
            </a:r>
            <a:endParaRPr lang="de-DE" sz="2000" dirty="0"/>
          </a:p>
        </p:txBody>
      </p:sp>
      <p:sp>
        <p:nvSpPr>
          <p:cNvPr id="8" name="Quelle 8"/>
          <p:cNvSpPr txBox="1"/>
          <p:nvPr/>
        </p:nvSpPr>
        <p:spPr>
          <a:xfrm>
            <a:off x="4284000" y="5616000"/>
            <a:ext cx="7163999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de-DE" sz="14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Enūma eliš I 2–3</a:t>
            </a:r>
            <a:endParaRPr lang="de-DE" sz="14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74C617B9-025D-434A-9329-475080415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fld id="{3889EAAA-2A39-E347-B0AA-909793490C00}" type="slidenum">
              <a:rPr lang="de-DE" smtClean="0"/>
              <a:pPr algn="l"/>
              <a:t>2</a:t>
            </a:fld>
            <a:endParaRPr lang="de-DE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864EB9-2EA0-4164-97DA-8B05DD8A7677}"/>
              </a:ext>
            </a:extLst>
          </p:cNvPr>
          <p:cNvSpPr/>
          <p:nvPr/>
        </p:nvSpPr>
        <p:spPr>
          <a:xfrm>
            <a:off x="119336" y="104775"/>
            <a:ext cx="11953328" cy="664845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00000" y="480000"/>
            <a:ext cx="7600000" cy="950000"/>
          </a:xfrm>
        </p:spPr>
        <p:txBody>
          <a:bodyPr anchor="ctr"/>
          <a:lstStyle/>
          <a:p>
            <a:pPr algn="ctr"/>
            <a:r>
              <a:rPr sz="2800">
                <a:solidFill>
                  <a:srgbClr val="232323"/>
                </a:solidFill>
                <a:latin typeface="Cardo"/>
                <a:ea typeface="Cardo"/>
                <a:cs typeface="Cardo"/>
              </a:rPr>
              <a:t>Drei Fallen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7999" y="1764000"/>
            <a:ext cx="101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457200" indent="-457200" algn="l">
              <a:spcAft>
                <a:spcPts val="1400"/>
              </a:spcAft>
              <a:buFont typeface="+mj-lt"/>
              <a:buAutoNum type="arabicPeriod"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\d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findet die Indexziffern in </a:t>
            </a:r>
            <a:r>
              <a:rPr lang="de-DE" sz="2000" i="1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u₂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, </a:t>
            </a:r>
            <a:r>
              <a:rPr lang="de-DE" sz="2000" i="1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ša₂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, </a:t>
            </a:r>
            <a:r>
              <a:rPr lang="de-DE" sz="2000" i="1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tu₄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nicht; stattdessen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[₀-₉]</a:t>
            </a:r>
            <a:endParaRPr lang="de-DE" sz="2000" dirty="0"/>
          </a:p>
          <a:p>
            <a:pPr marL="457200" indent="-457200" algn="l">
              <a:spcAft>
                <a:spcPts val="1400"/>
              </a:spcAft>
              <a:buFont typeface="+mj-lt"/>
              <a:buAutoNum type="arabicPeriod"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.*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ist gierig: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\[.*\]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findet in Zeile 2 </a:t>
            </a:r>
            <a:r>
              <a:rPr lang="de-DE" sz="2000" i="1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[ša]p-liš am#-ma#-[tu₄ š]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als einen Treffer; stattdessen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\[.*?\]</a:t>
            </a:r>
            <a:endParaRPr lang="de-DE" sz="2000" dirty="0"/>
          </a:p>
          <a:p>
            <a:pPr marL="457200" indent="-457200" algn="l">
              <a:spcAft>
                <a:spcPts val="1400"/>
              </a:spcAft>
              <a:buFont typeface="+mj-lt"/>
              <a:buAutoNum type="arabicPeriod"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\b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gilt auch am Bindestrich: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\bma\b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findet nicht nur die Partikel, sondern jedes Zeichen </a:t>
            </a:r>
            <a:r>
              <a:rPr lang="de-DE" sz="2000" i="1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ma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(e-nu-ma, am#-ma#, šu-ma, ABZU-ma)</a:t>
            </a:r>
            <a:endParaRPr lang="de-DE" sz="20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74C617B9-025D-434A-9329-475080415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fld id="{3889EAAA-2A39-E347-B0AA-909793490C00}" type="slidenum">
              <a:rPr lang="de-DE" smtClean="0"/>
              <a:pPr algn="l"/>
              <a:t>2</a:t>
            </a:fld>
            <a:endParaRPr lang="de-DE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864EB9-2EA0-4164-97DA-8B05DD8A7677}"/>
              </a:ext>
            </a:extLst>
          </p:cNvPr>
          <p:cNvSpPr/>
          <p:nvPr/>
        </p:nvSpPr>
        <p:spPr>
          <a:xfrm>
            <a:off x="119336" y="104775"/>
            <a:ext cx="11953328" cy="664845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00000" y="480000"/>
            <a:ext cx="7600000" cy="950000"/>
          </a:xfrm>
        </p:spPr>
        <p:txBody>
          <a:bodyPr anchor="ctr"/>
          <a:lstStyle/>
          <a:p>
            <a:pPr algn="ctr"/>
            <a:r>
              <a:rPr sz="2800">
                <a:solidFill>
                  <a:srgbClr val="232323"/>
                </a:solidFill>
                <a:latin typeface="Cardo"/>
                <a:ea typeface="Cardo"/>
                <a:cs typeface="Cardo"/>
              </a:rPr>
              <a:t>Übung 4: Reguläre Ausdrücke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7999" y="1584000"/>
            <a:ext cx="101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spcAft>
                <a:spcPts val="140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Auf regex101.com (Einstellung „Python“) die vier Zeilen einfügen und Muster schreiben für:</a:t>
            </a:r>
            <a:endParaRPr lang="de-DE" sz="2000" dirty="0"/>
          </a:p>
        </p:txBody>
      </p:sp>
      <p:sp>
        <p:nvSpPr>
          <p:cNvPr id="7" name="TextBox 7"/>
          <p:cNvSpPr txBox="1"/>
          <p:nvPr/>
        </p:nvSpPr>
        <p:spPr>
          <a:xfrm>
            <a:off x="1007999" y="2232000"/>
            <a:ext cx="101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457200" indent="-457200" algn="l">
              <a:spcAft>
                <a:spcPts val="1400"/>
              </a:spcAft>
              <a:buFont typeface="+mj-lt"/>
              <a:buAutoNum type="arabicPeriod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alle beschädigten Zeichen</a:t>
            </a:r>
            <a:endParaRPr lang="de-DE" sz="2000" dirty="0"/>
          </a:p>
          <a:p>
            <a:pPr marL="457200" indent="-457200" algn="l">
              <a:spcAft>
                <a:spcPts val="1400"/>
              </a:spcAft>
              <a:buFont typeface="+mj-lt"/>
              <a:buAutoNum type="arabicPeriod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alle ergänzten Stellen</a:t>
            </a:r>
            <a:endParaRPr lang="de-DE" sz="2000" dirty="0"/>
          </a:p>
          <a:p>
            <a:pPr marL="457200" indent="-457200" algn="l">
              <a:spcAft>
                <a:spcPts val="1400"/>
              </a:spcAft>
              <a:buFont typeface="+mj-lt"/>
              <a:buAutoNum type="arabicPeriod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alle Logogramme</a:t>
            </a:r>
            <a:endParaRPr lang="de-DE" sz="2000" dirty="0"/>
          </a:p>
          <a:p>
            <a:pPr marL="457200" indent="-457200" algn="l">
              <a:spcAft>
                <a:spcPts val="1400"/>
              </a:spcAft>
              <a:buFont typeface="+mj-lt"/>
              <a:buAutoNum type="arabicPeriod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alle Zeichen mit Indexziffer</a:t>
            </a:r>
            <a:endParaRPr lang="de-DE" sz="2000" dirty="0"/>
          </a:p>
        </p:txBody>
      </p:sp>
      <p:sp>
        <p:nvSpPr>
          <p:cNvPr id="8" name="TextBox 8"/>
          <p:cNvSpPr txBox="1"/>
          <p:nvPr/>
        </p:nvSpPr>
        <p:spPr>
          <a:xfrm>
            <a:off x="1007999" y="4464000"/>
            <a:ext cx="101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spcAft>
                <a:spcPts val="1400"/>
              </a:spcAft>
              <a:buNone/>
            </a:pPr>
            <a:r>
              <a:rPr lang="de-DE" sz="18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Kontrolle:</a:t>
            </a:r>
            <a:r>
              <a:rPr lang="de-DE" sz="18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4 beschädigte Zeichen (</a:t>
            </a:r>
            <a:r>
              <a:rPr lang="de-DE" sz="1800" i="1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am#</a:t>
            </a:r>
            <a:r>
              <a:rPr lang="de-DE" sz="18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, </a:t>
            </a:r>
            <a:r>
              <a:rPr lang="de-DE" sz="1800" i="1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ma#</a:t>
            </a:r>
            <a:r>
              <a:rPr lang="de-DE" sz="18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, </a:t>
            </a:r>
            <a:r>
              <a:rPr lang="de-DE" sz="1800" i="1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reš#</a:t>
            </a:r>
            <a:r>
              <a:rPr lang="de-DE" sz="18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, </a:t>
            </a:r>
            <a:r>
              <a:rPr lang="de-DE" sz="1800" i="1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ti#</a:t>
            </a:r>
            <a:r>
              <a:rPr lang="de-DE" sz="18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); 3 Ergänzungen; 1 Logogramm (ABZU); 5 Zeichen mit Indexziffer</a:t>
            </a:r>
            <a:endParaRPr lang="de-DE" sz="18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74C617B9-025D-434A-9329-475080415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fld id="{3889EAAA-2A39-E347-B0AA-909793490C00}" type="slidenum">
              <a:rPr lang="de-DE" smtClean="0"/>
              <a:pPr algn="l"/>
              <a:t>2</a:t>
            </a:fld>
            <a:endParaRPr lang="de-DE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864EB9-2EA0-4164-97DA-8B05DD8A7677}"/>
              </a:ext>
            </a:extLst>
          </p:cNvPr>
          <p:cNvSpPr/>
          <p:nvPr/>
        </p:nvSpPr>
        <p:spPr>
          <a:xfrm>
            <a:off x="119336" y="104775"/>
            <a:ext cx="11953328" cy="664845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00000" y="480000"/>
            <a:ext cx="7600000" cy="950000"/>
          </a:xfrm>
        </p:spPr>
        <p:txBody>
          <a:bodyPr anchor="ctr"/>
          <a:lstStyle/>
          <a:p>
            <a:pPr algn="ctr"/>
            <a:r>
              <a:rPr sz="2800">
                <a:solidFill>
                  <a:srgbClr val="232323"/>
                </a:solidFill>
                <a:latin typeface="Cardo"/>
                <a:ea typeface="Cardo"/>
                <a:cs typeface="Cardo"/>
              </a:rPr>
              <a:t>Was ist eine API?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7999" y="1764000"/>
            <a:ext cx="101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Eine Schnittstelle, über die ein Programm Daten von einem anderen Rechner abruft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Anfrage: eine Adresse (URL); Antwort: Daten für Maschinen, meist im Format JSON</a:t>
            </a:r>
            <a:endParaRPr lang="de-DE" sz="2000" dirty="0"/>
          </a:p>
        </p:txBody>
      </p:sp>
      <p:sp>
        <p:nvSpPr>
          <p:cNvPr id="7" name="TextBox 7"/>
          <p:cNvSpPr txBox="1"/>
          <p:nvPr/>
        </p:nvSpPr>
        <p:spPr>
          <a:xfrm>
            <a:off x="1080000" y="3456000"/>
            <a:ext cx="10044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spcAft>
                <a:spcPts val="140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Webseite: 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www.ebl.lmu.de/dictionary/…</a:t>
            </a:r>
            <a:endParaRPr lang="de-DE" sz="2000" dirty="0"/>
          </a:p>
          <a:p>
            <a:pPr marL="0" indent="0" algn="ctr">
              <a:spcAft>
                <a:spcPts val="140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API: 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www.ebl.lmu.de/api/words/šarru%20I</a:t>
            </a:r>
            <a:endParaRPr lang="de-DE" sz="20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74C617B9-025D-434A-9329-475080415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fld id="{3889EAAA-2A39-E347-B0AA-909793490C00}" type="slidenum">
              <a:rPr lang="de-DE" smtClean="0"/>
              <a:pPr algn="l"/>
              <a:t>2</a:t>
            </a:fld>
            <a:endParaRPr lang="de-DE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864EB9-2EA0-4164-97DA-8B05DD8A7677}"/>
              </a:ext>
            </a:extLst>
          </p:cNvPr>
          <p:cNvSpPr/>
          <p:nvPr/>
        </p:nvSpPr>
        <p:spPr>
          <a:xfrm>
            <a:off x="119336" y="104775"/>
            <a:ext cx="11953328" cy="664845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00000" y="480000"/>
            <a:ext cx="7600000" cy="950000"/>
          </a:xfrm>
        </p:spPr>
        <p:txBody>
          <a:bodyPr anchor="ctr"/>
          <a:lstStyle/>
          <a:p>
            <a:pPr algn="ctr"/>
            <a:r>
              <a:rPr sz="2800">
                <a:solidFill>
                  <a:srgbClr val="232323"/>
                </a:solidFill>
                <a:latin typeface="Cardo"/>
                <a:ea typeface="Cardo"/>
                <a:cs typeface="Cardo"/>
              </a:rPr>
              <a:t>JSON</a:t>
            </a:r>
          </a:p>
        </p:txBody>
      </p:sp>
      <p:sp>
        <p:nvSpPr>
          <p:cNvPr id="6" name="Code 6"/>
          <p:cNvSpPr txBox="1"/>
          <p:nvPr/>
        </p:nvSpPr>
        <p:spPr>
          <a:xfrm>
            <a:off x="2160000" y="1584000"/>
            <a:ext cx="792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{</a:t>
            </a:r>
            <a:endParaRPr lang="de-DE" sz="20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  …</a:t>
            </a:r>
            <a:endParaRPr lang="de-DE" sz="20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  "oraccWords": [</a:t>
            </a:r>
            <a:endParaRPr lang="de-DE" sz="20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    {"lemma": "šarru", "guideWord": "king"},</a:t>
            </a:r>
            <a:endParaRPr lang="de-DE" sz="20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    …</a:t>
            </a:r>
            <a:endParaRPr lang="de-DE" sz="20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  ]</a:t>
            </a:r>
            <a:endParaRPr lang="de-DE" sz="20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20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}</a:t>
            </a:r>
            <a:endParaRPr lang="de-DE" sz="2000" dirty="0"/>
          </a:p>
        </p:txBody>
      </p:sp>
      <p:sp>
        <p:nvSpPr>
          <p:cNvPr id="7" name="TextBox 7"/>
          <p:cNvSpPr txBox="1"/>
          <p:nvPr/>
        </p:nvSpPr>
        <p:spPr>
          <a:xfrm>
            <a:off x="1007999" y="4104000"/>
            <a:ext cx="101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{ }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entspricht einem Python-Wörterbuch (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dict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),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[ ]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einer Liste</a:t>
            </a:r>
            <a:endParaRPr lang="de-DE" sz="2000" dirty="0"/>
          </a:p>
        </p:txBody>
      </p:sp>
      <p:sp>
        <p:nvSpPr>
          <p:cNvPr id="8" name="Quelle 8"/>
          <p:cNvSpPr txBox="1"/>
          <p:nvPr/>
        </p:nvSpPr>
        <p:spPr>
          <a:xfrm>
            <a:off x="4284000" y="5616000"/>
            <a:ext cx="7163999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de-DE" sz="14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eBL-API, Eintrag šarru I (Auszug)</a:t>
            </a:r>
            <a:endParaRPr lang="de-DE" sz="14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74C617B9-025D-434A-9329-475080415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fld id="{3889EAAA-2A39-E347-B0AA-909793490C00}" type="slidenum">
              <a:rPr lang="de-DE" smtClean="0"/>
              <a:pPr algn="l"/>
              <a:t>2</a:t>
            </a:fld>
            <a:endParaRPr lang="de-DE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864EB9-2EA0-4164-97DA-8B05DD8A7677}"/>
              </a:ext>
            </a:extLst>
          </p:cNvPr>
          <p:cNvSpPr/>
          <p:nvPr/>
        </p:nvSpPr>
        <p:spPr>
          <a:xfrm>
            <a:off x="119336" y="104775"/>
            <a:ext cx="11953328" cy="664845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00000" y="480000"/>
            <a:ext cx="7600000" cy="950000"/>
          </a:xfrm>
        </p:spPr>
        <p:txBody>
          <a:bodyPr anchor="ctr"/>
          <a:lstStyle/>
          <a:p>
            <a:pPr algn="ctr"/>
            <a:r>
              <a:rPr sz="2800">
                <a:solidFill>
                  <a:srgbClr val="232323"/>
                </a:solidFill>
                <a:latin typeface="Cardo"/>
                <a:ea typeface="Cardo"/>
                <a:cs typeface="Cardo"/>
              </a:rPr>
              <a:t>Eine API mit Python abfragen</a:t>
            </a:r>
          </a:p>
        </p:txBody>
      </p:sp>
      <p:sp>
        <p:nvSpPr>
          <p:cNvPr id="6" name="Code 6"/>
          <p:cNvSpPr txBox="1"/>
          <p:nvPr/>
        </p:nvSpPr>
        <p:spPr>
          <a:xfrm>
            <a:off x="1260000" y="1584000"/>
            <a:ext cx="972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import requests</a:t>
            </a:r>
            <a:endParaRPr lang="de-DE" sz="1800" dirty="0"/>
          </a:p>
          <a:p>
            <a:pPr marL="0" indent="0" algn="l">
              <a:spcAft>
                <a:spcPts val="0"/>
              </a:spcAft>
              <a:buNone/>
            </a:pPr>
            <a:endParaRPr lang="de-DE" sz="18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url = "https://www.ebl.lmu.de/api/words/šarru%20I"</a:t>
            </a:r>
            <a:endParaRPr lang="de-DE" sz="18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daten = requests.get(url).json()</a:t>
            </a:r>
            <a:endParaRPr lang="de-DE" sz="1800" dirty="0"/>
          </a:p>
          <a:p>
            <a:pPr marL="0" indent="0" algn="l">
              <a:spcAft>
                <a:spcPts val="0"/>
              </a:spcAft>
              <a:buNone/>
            </a:pPr>
            <a:endParaRPr lang="de-DE" sz="18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for eintrag in daten["oraccWords"]:</a:t>
            </a:r>
            <a:endParaRPr lang="de-DE" sz="18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    print(eintrag["lemma"], eintrag["guideWord"])</a:t>
            </a:r>
            <a:endParaRPr lang="de-DE" sz="1800" dirty="0"/>
          </a:p>
        </p:txBody>
      </p:sp>
      <p:sp>
        <p:nvSpPr>
          <p:cNvPr id="7" name="TextBox 7"/>
          <p:cNvSpPr txBox="1"/>
          <p:nvPr/>
        </p:nvSpPr>
        <p:spPr>
          <a:xfrm>
            <a:off x="1007999" y="3816000"/>
            <a:ext cx="101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Adresse bilden, Anfrage schicken, Antwort wie ein Wörterbuch lesen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Wörterbucheinträge des eBL lassen sich ohne Anmeldung abrufen</a:t>
            </a:r>
            <a:endParaRPr lang="de-DE" sz="20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74C617B9-025D-434A-9329-475080415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fld id="{3889EAAA-2A39-E347-B0AA-909793490C00}" type="slidenum">
              <a:rPr lang="de-DE" smtClean="0"/>
              <a:pPr algn="l"/>
              <a:t>2</a:t>
            </a:fld>
            <a:endParaRPr lang="de-DE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864EB9-2EA0-4164-97DA-8B05DD8A7677}"/>
              </a:ext>
            </a:extLst>
          </p:cNvPr>
          <p:cNvSpPr/>
          <p:nvPr/>
        </p:nvSpPr>
        <p:spPr>
          <a:xfrm>
            <a:off x="119336" y="104775"/>
            <a:ext cx="11953328" cy="664845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00000" y="480000"/>
            <a:ext cx="7600000" cy="950000"/>
          </a:xfrm>
        </p:spPr>
        <p:txBody>
          <a:bodyPr anchor="ctr"/>
          <a:lstStyle/>
          <a:p>
            <a:pPr algn="ctr"/>
            <a:r>
              <a:rPr sz="2800">
                <a:solidFill>
                  <a:srgbClr val="232323"/>
                </a:solidFill>
                <a:latin typeface="Cardo"/>
                <a:ea typeface="Cardo"/>
                <a:cs typeface="Cardo"/>
              </a:rPr>
              <a:t>Git und GitHub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7999" y="1764000"/>
            <a:ext cx="101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Git: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Versionsverwaltung; speichert jeden Stand eines Projekts, so dass Änderungen nachvollziehbar bleiben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GitHub: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Plattform im Netz, auf der Git-Projekte liegen und geteilt werden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Repositorium: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ein Projektordner mit seiner ganzen Geschichte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Commit: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ein gespeicherter Stand mit kurzer Beschreibung; </a:t>
            </a:r>
            <a:r>
              <a:rPr lang="de-DE" sz="20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Push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und </a:t>
            </a:r>
            <a:r>
              <a:rPr lang="de-DE" sz="20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Pull: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hoch- und herunterladen</a:t>
            </a:r>
            <a:endParaRPr lang="de-DE" sz="2000" dirty="0"/>
          </a:p>
        </p:txBody>
      </p:sp>
      <p:sp>
        <p:nvSpPr>
          <p:cNvPr id="7" name="Code 7"/>
          <p:cNvSpPr txBox="1"/>
          <p:nvPr/>
        </p:nvSpPr>
        <p:spPr>
          <a:xfrm>
            <a:off x="2160000" y="4392000"/>
            <a:ext cx="792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git clone https://github.com/ejimsan/digitale-methode</a:t>
            </a:r>
            <a:endParaRPr lang="de-DE" sz="18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git add zeilen.py</a:t>
            </a:r>
            <a:endParaRPr lang="de-DE" sz="18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git commit -m "Erste Version"</a:t>
            </a:r>
            <a:endParaRPr lang="de-DE" sz="1800" dirty="0"/>
          </a:p>
          <a:p>
            <a:pPr marL="0" indent="0" algn="l">
              <a:spcAft>
                <a:spcPts val="0"/>
              </a:spcAft>
              <a:buNone/>
            </a:pP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git push</a:t>
            </a:r>
            <a:endParaRPr lang="de-DE" sz="18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74C617B9-025D-434A-9329-475080415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fld id="{3889EAAA-2A39-E347-B0AA-909793490C00}" type="slidenum">
              <a:rPr lang="de-DE" smtClean="0"/>
              <a:pPr algn="l"/>
              <a:t>2</a:t>
            </a:fld>
            <a:endParaRPr lang="de-DE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864EB9-2EA0-4164-97DA-8B05DD8A7677}"/>
              </a:ext>
            </a:extLst>
          </p:cNvPr>
          <p:cNvSpPr/>
          <p:nvPr/>
        </p:nvSpPr>
        <p:spPr>
          <a:xfrm>
            <a:off x="119336" y="104775"/>
            <a:ext cx="11953328" cy="664845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00000" y="480000"/>
            <a:ext cx="7600000" cy="950000"/>
          </a:xfrm>
        </p:spPr>
        <p:txBody>
          <a:bodyPr anchor="ctr"/>
          <a:lstStyle/>
          <a:p>
            <a:pPr algn="ctr"/>
            <a:r>
              <a:rPr sz="2800">
                <a:solidFill>
                  <a:srgbClr val="232323"/>
                </a:solidFill>
                <a:latin typeface="Cardo"/>
                <a:ea typeface="Cardo"/>
                <a:cs typeface="Cardo"/>
              </a:rPr>
              <a:t>GitHub im Kurs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7999" y="1764000"/>
            <a:ext cx="101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Konto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mit der LMU-Adresse anlegen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GitHub Education: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Studierendenstatus bestätigen lassen; damit ist GitHub Copilot kostenlos (die Prüfung dauert einige Tage)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Kursrepositorium: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github.com/ejimsan/digitale-methode; alle Materialien (Ordner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1._sitzung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usw.); jedes Modul kommt nach seiner Sitzung hinzu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Codespaces: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VS Code im Browser, falls die Installation auf dem eigenen Rechner scheitert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In VS Code: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Commit und Push über die Seitenleiste „Quellcodeverwaltung“</a:t>
            </a:r>
            <a:endParaRPr lang="de-DE" sz="20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74C617B9-025D-434A-9329-475080415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fld id="{3889EAAA-2A39-E347-B0AA-909793490C00}" type="slidenum">
              <a:rPr lang="de-DE" smtClean="0"/>
              <a:pPr algn="l"/>
              <a:t>2</a:t>
            </a:fld>
            <a:endParaRPr lang="de-DE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864EB9-2EA0-4164-97DA-8B05DD8A7677}"/>
              </a:ext>
            </a:extLst>
          </p:cNvPr>
          <p:cNvSpPr/>
          <p:nvPr/>
        </p:nvSpPr>
        <p:spPr>
          <a:xfrm>
            <a:off x="119336" y="104775"/>
            <a:ext cx="11953328" cy="664845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00000" y="480000"/>
            <a:ext cx="7600000" cy="950000"/>
          </a:xfrm>
        </p:spPr>
        <p:txBody>
          <a:bodyPr anchor="ctr"/>
          <a:lstStyle/>
          <a:p>
            <a:pPr algn="ctr"/>
            <a:r>
              <a:rPr sz="2800">
                <a:solidFill>
                  <a:srgbClr val="232323"/>
                </a:solidFill>
                <a:latin typeface="Cardo"/>
                <a:ea typeface="Cardo"/>
                <a:cs typeface="Cardo"/>
              </a:rPr>
              <a:t>Übung 5: APIs und GitHub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7999" y="1764000"/>
            <a:ext cx="101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457200" indent="-457200" algn="l">
              <a:spcAft>
                <a:spcPts val="1400"/>
              </a:spcAft>
              <a:buFont typeface="+mj-lt"/>
              <a:buAutoNum type="arabicPeriod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Im Browser öffnen: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www.ebl.lmu.de/api/words/šarru%20I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. Wo steht das Feld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oraccWords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, und welche guide words enthält es?</a:t>
            </a:r>
            <a:endParaRPr lang="de-DE" sz="2000" dirty="0"/>
          </a:p>
          <a:p>
            <a:pPr marL="457200" indent="-457200" algn="l">
              <a:spcAft>
                <a:spcPts val="1400"/>
              </a:spcAft>
              <a:buFont typeface="+mj-lt"/>
              <a:buAutoNum type="arabicPeriod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Ein GitHub-Konto mit der LMU-Adresse anlegen und bei GitHub Education den Studierendenstatus beantragen</a:t>
            </a:r>
            <a:endParaRPr lang="de-DE" sz="2000" dirty="0"/>
          </a:p>
          <a:p>
            <a:pPr marL="457200" indent="-457200" algn="l">
              <a:spcAft>
                <a:spcPts val="1400"/>
              </a:spcAft>
              <a:buFont typeface="+mj-lt"/>
              <a:buAutoNum type="arabicPeriod"/>
            </a:pPr>
            <a:r>
              <a:rPr lang="de-DE" sz="20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Zusatz: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python -m pip install requests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und die Abfrage der vorigen Folie in Python ausführen</a:t>
            </a:r>
            <a:endParaRPr lang="de-DE" sz="20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74C617B9-025D-434A-9329-475080415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fld id="{3889EAAA-2A39-E347-B0AA-909793490C00}" type="slidenum">
              <a:rPr lang="de-DE" smtClean="0"/>
              <a:pPr algn="l"/>
              <a:t>2</a:t>
            </a:fld>
            <a:endParaRPr lang="de-DE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864EB9-2EA0-4164-97DA-8B05DD8A7677}"/>
              </a:ext>
            </a:extLst>
          </p:cNvPr>
          <p:cNvSpPr/>
          <p:nvPr/>
        </p:nvSpPr>
        <p:spPr>
          <a:xfrm>
            <a:off x="119336" y="104775"/>
            <a:ext cx="11953328" cy="664845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00000" y="480000"/>
            <a:ext cx="7600000" cy="950000"/>
          </a:xfrm>
        </p:spPr>
        <p:txBody>
          <a:bodyPr anchor="ctr"/>
          <a:lstStyle/>
          <a:p>
            <a:pPr algn="ctr"/>
            <a:r>
              <a:rPr sz="2800">
                <a:solidFill>
                  <a:srgbClr val="232323"/>
                </a:solidFill>
                <a:latin typeface="Cardo"/>
                <a:ea typeface="Cardo"/>
                <a:cs typeface="Cardo"/>
              </a:rPr>
              <a:t>Literatur finden: wo?</a:t>
            </a:r>
          </a:p>
        </p:txBody>
      </p:sp>
      <p:sp>
        <p:nvSpPr>
          <p:cNvPr id="6" name="Spalte 6"/>
          <p:cNvSpPr txBox="1"/>
          <p:nvPr/>
        </p:nvSpPr>
        <p:spPr>
          <a:xfrm>
            <a:off x="1260000" y="1584000"/>
            <a:ext cx="252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spcAft>
                <a:spcPts val="1100"/>
              </a:spcAft>
              <a:buNone/>
            </a:pPr>
            <a:r>
              <a:rPr lang="de-DE" sz="19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Google Scholar</a:t>
            </a:r>
            <a:endParaRPr lang="de-DE" sz="1900" dirty="0"/>
          </a:p>
          <a:p>
            <a:pPr marL="0" indent="0" algn="l">
              <a:spcAft>
                <a:spcPts val="1100"/>
              </a:spcAft>
              <a:buNone/>
            </a:pPr>
            <a:r>
              <a:rPr lang="de-DE" sz="19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Semantic Scholar</a:t>
            </a:r>
            <a:endParaRPr lang="de-DE" sz="1900" dirty="0"/>
          </a:p>
          <a:p>
            <a:pPr marL="0" indent="0" algn="l">
              <a:spcAft>
                <a:spcPts val="1100"/>
              </a:spcAft>
              <a:buNone/>
            </a:pPr>
            <a:r>
              <a:rPr lang="de-DE" sz="19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ACL Anthology</a:t>
            </a:r>
            <a:endParaRPr lang="de-DE" sz="1900" dirty="0"/>
          </a:p>
          <a:p>
            <a:pPr marL="0" indent="0" algn="l">
              <a:spcAft>
                <a:spcPts val="1100"/>
              </a:spcAft>
              <a:buNone/>
            </a:pPr>
            <a:r>
              <a:rPr lang="de-DE" sz="19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DBLP</a:t>
            </a:r>
            <a:endParaRPr lang="de-DE" sz="1900" dirty="0"/>
          </a:p>
          <a:p>
            <a:pPr marL="0" indent="0" algn="l">
              <a:spcAft>
                <a:spcPts val="1100"/>
              </a:spcAft>
              <a:buNone/>
            </a:pPr>
            <a:r>
              <a:rPr lang="de-DE" sz="19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arXiv</a:t>
            </a:r>
            <a:endParaRPr lang="de-DE" sz="1900" dirty="0"/>
          </a:p>
          <a:p>
            <a:pPr marL="0" indent="0" algn="l">
              <a:spcAft>
                <a:spcPts val="1100"/>
              </a:spcAft>
              <a:buNone/>
            </a:pPr>
            <a:r>
              <a:rPr lang="de-DE" sz="19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KeiBi</a:t>
            </a:r>
            <a:endParaRPr lang="de-DE" sz="1900" dirty="0"/>
          </a:p>
          <a:p>
            <a:pPr marL="0" indent="0" algn="l">
              <a:spcAft>
                <a:spcPts val="1100"/>
              </a:spcAft>
              <a:buNone/>
            </a:pPr>
            <a:r>
              <a:rPr lang="de-DE" sz="19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UB der LMU</a:t>
            </a:r>
            <a:endParaRPr lang="de-DE" sz="1900" dirty="0"/>
          </a:p>
        </p:txBody>
      </p:sp>
      <p:sp>
        <p:nvSpPr>
          <p:cNvPr id="7" name="Spalte 7"/>
          <p:cNvSpPr txBox="1"/>
          <p:nvPr/>
        </p:nvSpPr>
        <p:spPr>
          <a:xfrm>
            <a:off x="3780000" y="1584000"/>
            <a:ext cx="72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l">
              <a:spcAft>
                <a:spcPts val="1100"/>
              </a:spcAft>
              <a:buNone/>
            </a:pPr>
            <a:r>
              <a:rPr lang="de-DE" sz="19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breite Suche; „Zitiert von“; Wendungen in Anführungszeichen</a:t>
            </a:r>
            <a:endParaRPr lang="de-DE" sz="1900" dirty="0"/>
          </a:p>
          <a:p>
            <a:pPr marL="0" indent="0" algn="l">
              <a:spcAft>
                <a:spcPts val="1100"/>
              </a:spcAft>
              <a:buNone/>
            </a:pPr>
            <a:r>
              <a:rPr lang="de-DE" sz="19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Empfehlungen und Kurzfassungen</a:t>
            </a:r>
            <a:endParaRPr lang="de-DE" sz="1900" dirty="0"/>
          </a:p>
          <a:p>
            <a:pPr marL="0" indent="0" algn="l">
              <a:spcAft>
                <a:spcPts val="1100"/>
              </a:spcAft>
              <a:buNone/>
            </a:pPr>
            <a:r>
              <a:rPr lang="de-DE" sz="19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Computerlinguistik, frei zugänglich</a:t>
            </a:r>
            <a:endParaRPr lang="de-DE" sz="1900" dirty="0"/>
          </a:p>
          <a:p>
            <a:pPr marL="0" indent="0" algn="l">
              <a:spcAft>
                <a:spcPts val="1100"/>
              </a:spcAft>
              <a:buNone/>
            </a:pPr>
            <a:r>
              <a:rPr lang="de-DE" sz="19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Informatik; alle Arbeiten einer Person</a:t>
            </a:r>
            <a:endParaRPr lang="de-DE" sz="1900" dirty="0"/>
          </a:p>
          <a:p>
            <a:pPr marL="0" indent="0" algn="l">
              <a:spcAft>
                <a:spcPts val="1100"/>
              </a:spcAft>
              <a:buNone/>
            </a:pPr>
            <a:r>
              <a:rPr lang="de-DE" sz="19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Vorabdrucke, noch nicht begutachtet</a:t>
            </a:r>
            <a:endParaRPr lang="de-DE" sz="1900" dirty="0"/>
          </a:p>
          <a:p>
            <a:pPr marL="0" indent="0" algn="l">
              <a:spcAft>
                <a:spcPts val="1100"/>
              </a:spcAft>
              <a:buNone/>
            </a:pPr>
            <a:r>
              <a:rPr lang="de-DE" sz="19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Keilschriftbibliographie</a:t>
            </a:r>
            <a:endParaRPr lang="de-DE" sz="1900" dirty="0"/>
          </a:p>
          <a:p>
            <a:pPr marL="0" indent="0" algn="l">
              <a:spcAft>
                <a:spcPts val="1100"/>
              </a:spcAft>
              <a:buNone/>
            </a:pPr>
            <a:r>
              <a:rPr lang="de-DE" sz="19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Volltexte über die LMU-Kennung („Zugang über Institution“)</a:t>
            </a:r>
            <a:endParaRPr lang="de-DE" sz="19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74C617B9-025D-434A-9329-475080415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fld id="{3889EAAA-2A39-E347-B0AA-909793490C00}" type="slidenum">
              <a:rPr lang="de-DE" smtClean="0"/>
              <a:pPr algn="l"/>
              <a:t>2</a:t>
            </a:fld>
            <a:endParaRPr lang="de-DE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864EB9-2EA0-4164-97DA-8B05DD8A7677}"/>
              </a:ext>
            </a:extLst>
          </p:cNvPr>
          <p:cNvSpPr/>
          <p:nvPr/>
        </p:nvSpPr>
        <p:spPr>
          <a:xfrm>
            <a:off x="119336" y="104775"/>
            <a:ext cx="11953328" cy="664845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00000" y="480000"/>
            <a:ext cx="7600000" cy="950000"/>
          </a:xfrm>
        </p:spPr>
        <p:txBody>
          <a:bodyPr anchor="ctr"/>
          <a:lstStyle/>
          <a:p>
            <a:pPr algn="ctr"/>
            <a:r>
              <a:rPr sz="2800">
                <a:solidFill>
                  <a:srgbClr val="232323"/>
                </a:solidFill>
                <a:latin typeface="Cardo"/>
                <a:ea typeface="Cardo"/>
                <a:cs typeface="Cardo"/>
              </a:rPr>
              <a:t>Literatur finden: wie?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7999" y="1764000"/>
            <a:ext cx="101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Suchbegriffe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auf Englisch: </a:t>
            </a:r>
            <a:r>
              <a:rPr lang="de-DE" sz="2000" i="1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text reuse detection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, </a:t>
            </a:r>
            <a:r>
              <a:rPr lang="de-DE" sz="2000" i="1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intertextuality detection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, </a:t>
            </a:r>
            <a:r>
              <a:rPr lang="de-DE" sz="2000" i="1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allusion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, </a:t>
            </a:r>
            <a:r>
              <a:rPr lang="de-DE" sz="2000" i="1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lemmatization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, </a:t>
            </a:r>
            <a:r>
              <a:rPr lang="de-DE" sz="2000" i="1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collocation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, </a:t>
            </a:r>
            <a:r>
              <a:rPr lang="de-DE" sz="2000" i="1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formulaic language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Schneeball: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von einem guten Aufsatz aus rückwärts (seine Bibliographie) und vorwärts („Zitiert von“)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Lesen: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zuerst Zusammenfassung, Abbildungen und Schluss; dann entscheiden, ob der ganze Aufsatz nötig ist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Sammeln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mit Zotero (zotero.org); die Browser-Erweiterung übernimmt die Angaben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Prüfen: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Titel, die ein KI-Assistent nennt, immer über die DOI oder im Katalog nachsehen; Sprachmodelle erfinden Literatur</a:t>
            </a:r>
            <a:endParaRPr lang="de-DE" sz="20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74C617B9-025D-434A-9329-475080415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fld id="{3889EAAA-2A39-E347-B0AA-909793490C00}" type="slidenum">
              <a:rPr lang="de-DE" smtClean="0"/>
              <a:pPr algn="l"/>
              <a:t>2</a:t>
            </a:fld>
            <a:endParaRPr lang="de-DE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864EB9-2EA0-4164-97DA-8B05DD8A7677}"/>
              </a:ext>
            </a:extLst>
          </p:cNvPr>
          <p:cNvSpPr/>
          <p:nvPr/>
        </p:nvSpPr>
        <p:spPr>
          <a:xfrm>
            <a:off x="119336" y="104775"/>
            <a:ext cx="11953328" cy="664845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00000" y="480000"/>
            <a:ext cx="7600000" cy="950000"/>
          </a:xfrm>
        </p:spPr>
        <p:txBody>
          <a:bodyPr anchor="ctr"/>
          <a:lstStyle/>
          <a:p>
            <a:pPr algn="ctr"/>
            <a:r>
              <a:rPr sz="2800">
                <a:solidFill>
                  <a:srgbClr val="232323"/>
                </a:solidFill>
                <a:latin typeface="Cardo"/>
                <a:ea typeface="Cardo"/>
                <a:cs typeface="Cardo"/>
              </a:rPr>
              <a:t>Übung 6: Literatur finden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7999" y="1764000"/>
            <a:ext cx="101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457200" indent="-457200" algn="l">
              <a:spcAft>
                <a:spcPts val="1400"/>
              </a:spcAft>
              <a:buFont typeface="+mj-lt"/>
              <a:buAutoNum type="arabicPeriod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Google Scholar: „The Tesserae Project: Intertextual Analysis of Latin Poetry“. Wie oft wird der Aufsatz zitiert?</a:t>
            </a:r>
            <a:endParaRPr lang="de-DE" sz="2000" dirty="0"/>
          </a:p>
          <a:p>
            <a:pPr marL="457200" indent="-457200" algn="l">
              <a:spcAft>
                <a:spcPts val="1400"/>
              </a:spcAft>
              <a:buFont typeface="+mj-lt"/>
              <a:buAutoNum type="arabicPeriod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Unter „Zitiert von“ einen Aufsatz finden, der das Verfahren auf eine andere Sprache überträgt</a:t>
            </a:r>
            <a:endParaRPr lang="de-DE" sz="2000" dirty="0"/>
          </a:p>
          <a:p>
            <a:pPr marL="457200" indent="-457200" algn="l">
              <a:spcAft>
                <a:spcPts val="1400"/>
              </a:spcAft>
              <a:buFont typeface="+mj-lt"/>
              <a:buAutoNum type="arabicPeriod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ACL Anthology: nach </a:t>
            </a:r>
            <a:r>
              <a:rPr lang="de-DE" sz="2000" i="1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text reuse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suchen und einen Aufsatz von 2020 oder später auswählen</a:t>
            </a:r>
            <a:endParaRPr lang="de-DE" sz="2000" dirty="0"/>
          </a:p>
          <a:p>
            <a:pPr marL="457200" indent="-457200" algn="l">
              <a:spcAft>
                <a:spcPts val="1400"/>
              </a:spcAft>
              <a:buFont typeface="+mj-lt"/>
              <a:buAutoNum type="arabicPeriod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KeiBi: nach Wisnom, </a:t>
            </a:r>
            <a:r>
              <a:rPr lang="de-DE" sz="2000" i="1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Weapons of Words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suchen. Gibt es Rezensionen?</a:t>
            </a:r>
            <a:endParaRPr lang="de-DE" sz="2000" dirty="0"/>
          </a:p>
          <a:p>
            <a:pPr marL="457200" indent="-457200" algn="l">
              <a:spcAft>
                <a:spcPts val="1400"/>
              </a:spcAft>
              <a:buFont typeface="+mj-lt"/>
              <a:buAutoNum type="arabicPeriod"/>
            </a:pPr>
            <a:r>
              <a:rPr lang="de-DE" sz="20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Zusatz: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Zotero installieren und die gefundenen Titel speichern</a:t>
            </a:r>
            <a:endParaRPr lang="de-DE" sz="20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74C617B9-025D-434A-9329-475080415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fld id="{3889EAAA-2A39-E347-B0AA-909793490C00}" type="slidenum">
              <a:rPr lang="de-DE" smtClean="0"/>
              <a:pPr algn="l"/>
              <a:t>2</a:t>
            </a:fld>
            <a:endParaRPr lang="de-DE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864EB9-2EA0-4164-97DA-8B05DD8A7677}"/>
              </a:ext>
            </a:extLst>
          </p:cNvPr>
          <p:cNvSpPr/>
          <p:nvPr/>
        </p:nvSpPr>
        <p:spPr>
          <a:xfrm>
            <a:off x="119336" y="104775"/>
            <a:ext cx="11953328" cy="664845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00000" y="480000"/>
            <a:ext cx="7600000" cy="950000"/>
          </a:xfrm>
        </p:spPr>
        <p:txBody>
          <a:bodyPr anchor="ctr"/>
          <a:lstStyle/>
          <a:p>
            <a:pPr algn="ctr"/>
            <a:r>
              <a:rPr sz="2800">
                <a:solidFill>
                  <a:srgbClr val="232323"/>
                </a:solidFill>
                <a:latin typeface="Cardo"/>
                <a:ea typeface="Cardo"/>
                <a:cs typeface="Cardo"/>
              </a:rPr>
              <a:t>Übung 7: Ein erstes Programm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7999" y="1764000"/>
            <a:ext cx="101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Übungsblatt, Teil B: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zeilen.py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für BM.35407 i 13′–23′ (Datei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bm35407.txt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im Ordner </a:t>
            </a:r>
            <a:r>
              <a:rPr lang="de-DE" sz="1800" i="0" dirty="0">
                <a:solidFill>
                  <a:srgbClr val="232323"/>
                </a:solidFill>
                <a:latin typeface="Courier New"/>
                <a:ea typeface="Courier New"/>
                <a:cs typeface="Courier New"/>
              </a:rPr>
              <a:t xml:space="preserve">1._sitzung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)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In Paaren; Tastatur alle 15 Minuten wechseln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Was heute nicht fertig wird, bis zum 30.10. fertigstellen</a:t>
            </a:r>
            <a:endParaRPr lang="de-DE" sz="20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74C617B9-025D-434A-9329-475080415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fld id="{3889EAAA-2A39-E347-B0AA-909793490C00}" type="slidenum">
              <a:rPr lang="de-DE" smtClean="0"/>
              <a:pPr algn="l"/>
              <a:t>2</a:t>
            </a:fld>
            <a:endParaRPr lang="de-DE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864EB9-2EA0-4164-97DA-8B05DD8A7677}"/>
              </a:ext>
            </a:extLst>
          </p:cNvPr>
          <p:cNvSpPr/>
          <p:nvPr/>
        </p:nvSpPr>
        <p:spPr>
          <a:xfrm>
            <a:off x="119336" y="104775"/>
            <a:ext cx="11953328" cy="664845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00000" y="480000"/>
            <a:ext cx="7600000" cy="950000"/>
          </a:xfrm>
        </p:spPr>
        <p:txBody>
          <a:bodyPr anchor="ctr"/>
          <a:lstStyle/>
          <a:p>
            <a:pPr algn="ctr"/>
            <a:r>
              <a:rPr sz="2800">
                <a:solidFill>
                  <a:srgbClr val="232323"/>
                </a:solidFill>
                <a:latin typeface="Cardo"/>
                <a:ea typeface="Cardo"/>
                <a:cs typeface="Cardo"/>
              </a:rPr>
              <a:t>Für den 30.10.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7999" y="1764000"/>
            <a:ext cx="1018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Übung: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Programm fertigstellen und mitbringen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GitHub Education: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Studierendenstatus bestätigen lassen (für GitHub Copilot)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Module: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die ersten zwei werden am 30.10. vorgestellt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Lektüre: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Leonard 2008; Coffee et al. 2013</a:t>
            </a:r>
            <a:endParaRPr lang="de-DE" sz="2000" dirty="0"/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de-DE" sz="2000" b="1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Nächste Sitzung:</a:t>
            </a:r>
            <a:r>
              <a:rPr lang="de-DE" sz="2000" i="0" dirty="0">
                <a:solidFill>
                  <a:srgbClr val="232323"/>
                </a:solidFill>
                <a:latin typeface="Cardo"/>
                <a:ea typeface="Cardo"/>
                <a:cs typeface="Cardo"/>
              </a:rPr>
              <a:t xml:space="preserve"> Fr. 30.10.2026, 9–13 Uhr</a:t>
            </a:r>
            <a:endParaRPr lang="de-DE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äsentationstitel">
  <a:themeElements>
    <a:clrScheme name="LMU_PPT">
      <a:dk1>
        <a:srgbClr val="00883A"/>
      </a:dk1>
      <a:lt1>
        <a:sysClr val="window" lastClr="FFFFFF"/>
      </a:lt1>
      <a:dk2>
        <a:srgbClr val="232323"/>
      </a:dk2>
      <a:lt2>
        <a:srgbClr val="626468"/>
      </a:lt2>
      <a:accent1>
        <a:srgbClr val="C0C1C3"/>
      </a:accent1>
      <a:accent2>
        <a:srgbClr val="E6E6E7"/>
      </a:accent2>
      <a:accent3>
        <a:srgbClr val="F5F5F5"/>
      </a:accent3>
      <a:accent4>
        <a:srgbClr val="0F1987"/>
      </a:accent4>
      <a:accent5>
        <a:srgbClr val="009FE3"/>
      </a:accent5>
      <a:accent6>
        <a:srgbClr val="8C4091"/>
      </a:accent6>
      <a:hlink>
        <a:srgbClr val="D71919"/>
      </a:hlink>
      <a:folHlink>
        <a:srgbClr val="F187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MU_PPTVorlage_Breitbild_20211018_RS.potx" id="{8B5985BF-D058-444F-96D0-975D6BB6FF26}" vid="{35540B05-B003-40E9-8BFD-27F85704EF24}"/>
    </a:ext>
  </a:extLst>
</a:theme>
</file>

<file path=ppt/theme/theme2.xml><?xml version="1.0" encoding="utf-8"?>
<a:theme xmlns:a="http://schemas.openxmlformats.org/drawingml/2006/main" name="Präsentationstitel Variante">
  <a:themeElements>
    <a:clrScheme name="LMU_PPT">
      <a:dk1>
        <a:srgbClr val="00883A"/>
      </a:dk1>
      <a:lt1>
        <a:sysClr val="window" lastClr="FFFFFF"/>
      </a:lt1>
      <a:dk2>
        <a:srgbClr val="232323"/>
      </a:dk2>
      <a:lt2>
        <a:srgbClr val="626468"/>
      </a:lt2>
      <a:accent1>
        <a:srgbClr val="C0C1C3"/>
      </a:accent1>
      <a:accent2>
        <a:srgbClr val="E6E6E7"/>
      </a:accent2>
      <a:accent3>
        <a:srgbClr val="F5F5F5"/>
      </a:accent3>
      <a:accent4>
        <a:srgbClr val="0F1987"/>
      </a:accent4>
      <a:accent5>
        <a:srgbClr val="009FE3"/>
      </a:accent5>
      <a:accent6>
        <a:srgbClr val="8C4091"/>
      </a:accent6>
      <a:hlink>
        <a:srgbClr val="D71919"/>
      </a:hlink>
      <a:folHlink>
        <a:srgbClr val="F187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MU_PPTVorlage_Breitbild_20211018_RS.potx" id="{8B5985BF-D058-444F-96D0-975D6BB6FF26}" vid="{3C7FBB39-B639-4738-AE75-909792B56FDF}"/>
    </a:ext>
  </a:extLst>
</a:theme>
</file>

<file path=ppt/theme/theme3.xml><?xml version="1.0" encoding="utf-8"?>
<a:theme xmlns:a="http://schemas.openxmlformats.org/drawingml/2006/main" name="Kapiteltrenner">
  <a:themeElements>
    <a:clrScheme name="LMU">
      <a:dk1>
        <a:srgbClr val="008740"/>
      </a:dk1>
      <a:lt1>
        <a:sysClr val="window" lastClr="FFFFFF"/>
      </a:lt1>
      <a:dk2>
        <a:srgbClr val="000000"/>
      </a:dk2>
      <a:lt2>
        <a:srgbClr val="4A4A4A"/>
      </a:lt2>
      <a:accent1>
        <a:srgbClr val="9D9D9D"/>
      </a:accent1>
      <a:accent2>
        <a:srgbClr val="D0D0D0"/>
      </a:accent2>
      <a:accent3>
        <a:srgbClr val="F4F4F4"/>
      </a:accent3>
      <a:accent4>
        <a:srgbClr val="023E84"/>
      </a:accent4>
      <a:accent5>
        <a:srgbClr val="009FE3"/>
      </a:accent5>
      <a:accent6>
        <a:srgbClr val="8C40A5"/>
      </a:accent6>
      <a:hlink>
        <a:srgbClr val="DC0D15"/>
      </a:hlink>
      <a:folHlink>
        <a:srgbClr val="F187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MU_PPTVorlage_Breitbild_20211018_RS.potx" id="{8B5985BF-D058-444F-96D0-975D6BB6FF26}" vid="{CB105B76-5D6F-4749-9B50-6083A4708359}"/>
    </a:ext>
  </a:extLst>
</a:theme>
</file>

<file path=ppt/theme/theme4.xml><?xml version="1.0" encoding="utf-8"?>
<a:theme xmlns:a="http://schemas.openxmlformats.org/drawingml/2006/main" name="Inhalt">
  <a:themeElements>
    <a:clrScheme name="LMU_PPT">
      <a:dk1>
        <a:srgbClr val="00883A"/>
      </a:dk1>
      <a:lt1>
        <a:sysClr val="window" lastClr="FFFFFF"/>
      </a:lt1>
      <a:dk2>
        <a:srgbClr val="232323"/>
      </a:dk2>
      <a:lt2>
        <a:srgbClr val="626468"/>
      </a:lt2>
      <a:accent1>
        <a:srgbClr val="C0C1C3"/>
      </a:accent1>
      <a:accent2>
        <a:srgbClr val="E6E6E7"/>
      </a:accent2>
      <a:accent3>
        <a:srgbClr val="F5F5F5"/>
      </a:accent3>
      <a:accent4>
        <a:srgbClr val="0F1987"/>
      </a:accent4>
      <a:accent5>
        <a:srgbClr val="009FE3"/>
      </a:accent5>
      <a:accent6>
        <a:srgbClr val="8C4091"/>
      </a:accent6>
      <a:hlink>
        <a:srgbClr val="D71919"/>
      </a:hlink>
      <a:folHlink>
        <a:srgbClr val="F187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MU_PPTVorlage_Breitbild_20211018_RS.potx" id="{8B5985BF-D058-444F-96D0-975D6BB6FF26}" vid="{8E030E06-0522-4086-812A-EF638A132A10}"/>
    </a:ext>
  </a:extLst>
</a:theme>
</file>

<file path=ppt/theme/theme5.xml><?xml version="1.0" encoding="utf-8"?>
<a:theme xmlns:a="http://schemas.openxmlformats.org/drawingml/2006/main" name="Rücktitel">
  <a:themeElements>
    <a:clrScheme name="Benutzerdefiniert 1">
      <a:dk1>
        <a:srgbClr val="008740"/>
      </a:dk1>
      <a:lt1>
        <a:srgbClr val="FFFFFF"/>
      </a:lt1>
      <a:dk2>
        <a:srgbClr val="000000"/>
      </a:dk2>
      <a:lt2>
        <a:srgbClr val="4A4A4A"/>
      </a:lt2>
      <a:accent1>
        <a:srgbClr val="9D9D9D"/>
      </a:accent1>
      <a:accent2>
        <a:srgbClr val="D0D0D0"/>
      </a:accent2>
      <a:accent3>
        <a:srgbClr val="F4F4F4"/>
      </a:accent3>
      <a:accent4>
        <a:srgbClr val="023E84"/>
      </a:accent4>
      <a:accent5>
        <a:srgbClr val="009FE3"/>
      </a:accent5>
      <a:accent6>
        <a:srgbClr val="8C40A5"/>
      </a:accent6>
      <a:hlink>
        <a:srgbClr val="DC0D15"/>
      </a:hlink>
      <a:folHlink>
        <a:srgbClr val="F187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MU_PPTVorlage_Breitbild_20211018_RS.potx" id="{8B5985BF-D058-444F-96D0-975D6BB6FF26}" vid="{F04502E2-E3AD-4B4D-9E84-06C802A74D0B}"/>
    </a:ext>
  </a:extLst>
</a:theme>
</file>

<file path=ppt/theme/theme6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lmu_pptvorlage_breitbild</Template>
  <TotalTime>0</TotalTime>
  <Words>3700</Words>
  <Application>Microsoft Office PowerPoint</Application>
  <PresentationFormat>Widescreen</PresentationFormat>
  <Paragraphs>289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</vt:lpstr>
      <vt:lpstr>Calibri</vt:lpstr>
      <vt:lpstr>Cardo</vt:lpstr>
      <vt:lpstr>LMU CompatilFact</vt:lpstr>
      <vt:lpstr>Wingdings</vt:lpstr>
      <vt:lpstr>Präsentationstitel</vt:lpstr>
      <vt:lpstr>Präsentationstitel Variante</vt:lpstr>
      <vt:lpstr>Kapiteltrenner</vt:lpstr>
      <vt:lpstr>Inhalt</vt:lpstr>
      <vt:lpstr>Rücktitel</vt:lpstr>
      <vt:lpstr>Medizinische Texte aus dem alten Mesopotamien</vt:lpstr>
      <vt:lpstr>Organisation</vt:lpstr>
      <vt:lpstr>Zeitplan</vt:lpstr>
      <vt:lpstr>Was ist „Medizin“?</vt:lpstr>
      <vt:lpstr>Zwei Fachleute</vt:lpstr>
      <vt:lpstr>Gattungen</vt:lpstr>
      <vt:lpstr>Chronologie</vt:lpstr>
      <vt:lpstr>Die Ninivitische Medizinische Enzyklopädie</vt:lpstr>
      <vt:lpstr>Sakikkû (SA.GIG): 40 Tafeln in 6 Kapiteln</vt:lpstr>
      <vt:lpstr>Ätiologie: die „Hand“ der Gottheit</vt:lpstr>
      <vt:lpstr>Arbeitsmittel</vt:lpstr>
      <vt:lpstr>Häufige Logogramme</vt:lpstr>
      <vt:lpstr>Diagnose: Sakikkû 3:5</vt:lpstr>
      <vt:lpstr>Diagnose: Sakikkû 3:5</vt:lpstr>
      <vt:lpstr>Kommentar: BM 55491 Vs. 4</vt:lpstr>
      <vt:lpstr>Therapie: BAM 578 i 1–2</vt:lpstr>
      <vt:lpstr>Therapie: BAM 578 i 1–2</vt:lpstr>
      <vt:lpstr>Astrologie: BM 56605 Vs. 51–52</vt:lpstr>
      <vt:lpstr>Dieselbe Tafel: der „Zodiac Man“</vt:lpstr>
      <vt:lpstr>PowerPoint Presentation</vt:lpstr>
      <vt:lpstr>Für den 19.10.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Medizinische Texte aus dem alten Mesopotamien – Einführung (12.10.2026)</dc:title>
  <dc:creator>Enrique Jiménez</dc:creator>
  <cp:lastModifiedBy>Jiménez, Enrique</cp:lastModifiedBy>
  <cp:revision>185</cp:revision>
  <cp:lastPrinted>2020-11-01T16:28:52Z</cp:lastPrinted>
  <dcterms:created xsi:type="dcterms:W3CDTF">2021-11-09T14:11:21Z</dcterms:created>
  <dcterms:modified xsi:type="dcterms:W3CDTF">2026-10-12T08:05:09Z</dcterms:modified>
</cp:coreProperties>
</file>